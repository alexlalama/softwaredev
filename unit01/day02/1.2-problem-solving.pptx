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8"/>
  </p:notesMasterIdLst>
  <p:sldIdLst>
    <p:sldId id="256" r:id="rId2"/>
    <p:sldId id="257" r:id="rId3"/>
    <p:sldId id="258" r:id="rId4"/>
    <p:sldId id="264" r:id="rId5"/>
    <p:sldId id="259" r:id="rId6"/>
    <p:sldId id="260" r:id="rId7"/>
  </p:sldIdLst>
  <p:sldSz cx="9144000" cy="5143500" type="screen16x9"/>
  <p:notesSz cx="6858000" cy="9144000"/>
  <p:embeddedFontLst>
    <p:embeddedFont>
      <p:font typeface="Consolas" panose="020B0609020204030204" pitchFamily="49" charset="0"/>
      <p:regular r:id="rId9"/>
      <p:bold r:id="rId10"/>
      <p:italic r:id="rId11"/>
      <p:boldItalic r:id="rId12"/>
    </p:embeddedFont>
    <p:embeddedFont>
      <p:font typeface="Merriweather" panose="00000500000000000000" pitchFamily="2" charset="0"/>
      <p:regular r:id="rId13"/>
      <p:bold r:id="rId14"/>
      <p:italic r:id="rId15"/>
      <p:boldItalic r:id="rId16"/>
    </p:embeddedFont>
    <p:embeddedFont>
      <p:font typeface="Roboto"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443BAE-6E5C-4F2B-8E36-E3E00C354881}">
  <a:tblStyle styleId="{BE443BAE-6E5C-4F2B-8E36-E3E00C3548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03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8c395c11c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8c395c11c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863b06f3e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863b06f3e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863b06f3ea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63b06f3e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A00F81F-604A-0202-52AD-23E2C9698A79}"/>
            </a:ext>
          </a:extLst>
        </p:cNvPr>
        <p:cNvGrpSpPr/>
        <p:nvPr/>
      </p:nvGrpSpPr>
      <p:grpSpPr>
        <a:xfrm>
          <a:off x="0" y="0"/>
          <a:ext cx="0" cy="0"/>
          <a:chOff x="0" y="0"/>
          <a:chExt cx="0" cy="0"/>
        </a:xfrm>
      </p:grpSpPr>
      <p:sp>
        <p:nvSpPr>
          <p:cNvPr id="86" name="Google Shape;86;g863b06f3ea_0_55:notes">
            <a:extLst>
              <a:ext uri="{FF2B5EF4-FFF2-40B4-BE49-F238E27FC236}">
                <a16:creationId xmlns:a16="http://schemas.microsoft.com/office/drawing/2014/main" id="{83609056-B8DC-F375-EB7E-BF4215A22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63b06f3ea_0_55:notes">
            <a:extLst>
              <a:ext uri="{FF2B5EF4-FFF2-40B4-BE49-F238E27FC236}">
                <a16:creationId xmlns:a16="http://schemas.microsoft.com/office/drawing/2014/main" id="{B9F82863-4C57-E920-926A-68E6D5DBF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772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863b06f3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863b06f3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863b06f3e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863b06f3e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lnSpc>
                <a:spcPct val="100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lnSpc>
                <a:spcPct val="100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Solving Session</a:t>
            </a:r>
            <a:endParaRPr/>
          </a:p>
        </p:txBody>
      </p:sp>
      <p:sp>
        <p:nvSpPr>
          <p:cNvPr id="69" name="Google Shape;69;p13"/>
          <p:cNvSpPr txBox="1">
            <a:spLocks noGrp="1"/>
          </p:cNvSpPr>
          <p:nvPr>
            <p:ph type="body" idx="1"/>
          </p:nvPr>
        </p:nvSpPr>
        <p:spPr>
          <a:xfrm>
            <a:off x="311700" y="1505700"/>
            <a:ext cx="4128000" cy="3286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The remainder of today’s class will comprise the </a:t>
            </a:r>
            <a:r>
              <a:rPr lang="en" b="1" i="1">
                <a:solidFill>
                  <a:srgbClr val="FF0000"/>
                </a:solidFill>
              </a:rPr>
              <a:t>problem solving session</a:t>
            </a:r>
            <a:r>
              <a:rPr lang="en"/>
              <a:t> (</a:t>
            </a:r>
            <a:r>
              <a:rPr lang="en" b="1" i="1">
                <a:solidFill>
                  <a:srgbClr val="FF0000"/>
                </a:solidFill>
              </a:rPr>
              <a:t>PSS</a:t>
            </a:r>
            <a:r>
              <a:rPr lang="en"/>
              <a:t>).</a:t>
            </a:r>
            <a:endParaRPr/>
          </a:p>
          <a:p>
            <a:pPr marL="457200" lvl="0" indent="-311150" algn="l" rtl="0">
              <a:spcBef>
                <a:spcPts val="0"/>
              </a:spcBef>
              <a:spcAft>
                <a:spcPts val="0"/>
              </a:spcAft>
              <a:buSzPts val="1300"/>
              <a:buChar char="●"/>
            </a:pPr>
            <a:r>
              <a:rPr lang="en"/>
              <a:t>Your instructor will divide you into </a:t>
            </a:r>
            <a:r>
              <a:rPr lang="en" b="1" i="1">
                <a:solidFill>
                  <a:srgbClr val="FF0000"/>
                </a:solidFill>
              </a:rPr>
              <a:t>teams of 3 or 4 students</a:t>
            </a:r>
            <a:r>
              <a:rPr lang="en"/>
              <a:t>.</a:t>
            </a:r>
            <a:endParaRPr/>
          </a:p>
          <a:p>
            <a:pPr marL="457200" lvl="0" indent="-311150" algn="l" rtl="0">
              <a:spcBef>
                <a:spcPts val="0"/>
              </a:spcBef>
              <a:spcAft>
                <a:spcPts val="0"/>
              </a:spcAft>
              <a:buSzPts val="1300"/>
              <a:buChar char="●"/>
            </a:pPr>
            <a:r>
              <a:rPr lang="en"/>
              <a:t>Each team will </a:t>
            </a:r>
            <a:r>
              <a:rPr lang="en" b="1" i="1">
                <a:solidFill>
                  <a:srgbClr val="FF0000"/>
                </a:solidFill>
              </a:rPr>
              <a:t>work together</a:t>
            </a:r>
            <a:r>
              <a:rPr lang="en"/>
              <a:t> to solve the following problems over the course of </a:t>
            </a:r>
            <a:r>
              <a:rPr lang="en" b="1" i="1">
                <a:solidFill>
                  <a:srgbClr val="FF0000"/>
                </a:solidFill>
              </a:rPr>
              <a:t>20-30 minutes</a:t>
            </a:r>
            <a:r>
              <a:rPr lang="en"/>
              <a:t>.</a:t>
            </a:r>
            <a:endParaRPr/>
          </a:p>
          <a:p>
            <a:pPr marL="914400" lvl="1" indent="-298450" algn="l" rtl="0">
              <a:spcBef>
                <a:spcPts val="0"/>
              </a:spcBef>
              <a:spcAft>
                <a:spcPts val="0"/>
              </a:spcAft>
              <a:buSzPts val="1100"/>
              <a:buChar char="○"/>
            </a:pPr>
            <a:r>
              <a:rPr lang="en"/>
              <a:t>You may work on paper, a white board, or digitally as determined by your instructor.</a:t>
            </a:r>
            <a:endParaRPr/>
          </a:p>
          <a:p>
            <a:pPr marL="914400" lvl="1" indent="-298450" algn="l" rtl="0">
              <a:spcBef>
                <a:spcPts val="0"/>
              </a:spcBef>
              <a:spcAft>
                <a:spcPts val="0"/>
              </a:spcAft>
              <a:buSzPts val="1100"/>
              <a:buChar char="○"/>
            </a:pPr>
            <a:r>
              <a:rPr lang="en"/>
              <a:t>You will submit your solution by pushing it to GitHub before the end of class.</a:t>
            </a:r>
            <a:endParaRPr/>
          </a:p>
          <a:p>
            <a:pPr marL="457200" lvl="0" indent="-311150" algn="l" rtl="0">
              <a:spcBef>
                <a:spcPts val="0"/>
              </a:spcBef>
              <a:spcAft>
                <a:spcPts val="0"/>
              </a:spcAft>
              <a:buSzPts val="1300"/>
              <a:buChar char="●"/>
            </a:pPr>
            <a:r>
              <a:rPr lang="en"/>
              <a:t>Your instructor will go over the solution before the end of class.</a:t>
            </a:r>
            <a:endParaRPr/>
          </a:p>
          <a:p>
            <a:pPr marL="457200" lvl="0" indent="-311150" algn="l" rtl="0">
              <a:spcBef>
                <a:spcPts val="0"/>
              </a:spcBef>
              <a:spcAft>
                <a:spcPts val="0"/>
              </a:spcAft>
              <a:buSzPts val="1300"/>
              <a:buChar char="●"/>
            </a:pPr>
            <a:r>
              <a:rPr lang="en"/>
              <a:t>If there is any time remaining, you will begin work on your homework assignment.</a:t>
            </a:r>
            <a:endParaRPr/>
          </a:p>
        </p:txBody>
      </p:sp>
      <p:sp>
        <p:nvSpPr>
          <p:cNvPr id="70" name="Google Shape;7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body" idx="4294967295"/>
          </p:nvPr>
        </p:nvSpPr>
        <p:spPr>
          <a:xfrm>
            <a:off x="4759575" y="3528444"/>
            <a:ext cx="3706500" cy="68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Class participation is a significant part of your grade (20%). This includes in class activities and the problem solving session.</a:t>
            </a:r>
            <a:endParaRPr sz="1200">
              <a:solidFill>
                <a:srgbClr val="000000"/>
              </a:solidFill>
              <a:latin typeface="Arial"/>
              <a:ea typeface="Arial"/>
              <a:cs typeface="Arial"/>
              <a:sym typeface="Arial"/>
            </a:endParaRPr>
          </a:p>
        </p:txBody>
      </p:sp>
      <p:sp>
        <p:nvSpPr>
          <p:cNvPr id="72" name="Google Shape;72;p13"/>
          <p:cNvSpPr txBox="1">
            <a:spLocks noGrp="1"/>
          </p:cNvSpPr>
          <p:nvPr>
            <p:ph type="body" idx="4294967295"/>
          </p:nvPr>
        </p:nvSpPr>
        <p:spPr>
          <a:xfrm>
            <a:off x="4759575" y="4315619"/>
            <a:ext cx="3706500" cy="680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Your graders will grade your participation by verifying that you pushed your solutions before the end of the class period each day.</a:t>
            </a:r>
            <a:endParaRPr sz="1200">
              <a:solidFill>
                <a:srgbClr val="000000"/>
              </a:solidFill>
              <a:latin typeface="Arial"/>
              <a:ea typeface="Arial"/>
              <a:cs typeface="Arial"/>
              <a:sym typeface="Arial"/>
            </a:endParaRPr>
          </a:p>
        </p:txBody>
      </p:sp>
      <p:pic>
        <p:nvPicPr>
          <p:cNvPr id="73" name="Google Shape;73;p13"/>
          <p:cNvPicPr preferRelativeResize="0"/>
          <p:nvPr/>
        </p:nvPicPr>
        <p:blipFill>
          <a:blip r:embed="rId3">
            <a:alphaModFix/>
          </a:blip>
          <a:stretch>
            <a:fillRect/>
          </a:stretch>
        </p:blipFill>
        <p:spPr>
          <a:xfrm>
            <a:off x="4759574" y="1386736"/>
            <a:ext cx="3706500" cy="2035232"/>
          </a:xfrm>
          <a:prstGeom prst="rect">
            <a:avLst/>
          </a:prstGeom>
          <a:noFill/>
          <a:ln w="19050" cap="flat" cmpd="sng">
            <a:solidFill>
              <a:srgbClr val="666666"/>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1</a:t>
            </a:r>
            <a:endParaRPr/>
          </a:p>
        </p:txBody>
      </p:sp>
      <p:sp>
        <p:nvSpPr>
          <p:cNvPr id="79" name="Google Shape;79;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80" name="Google Shape;80;p14"/>
          <p:cNvSpPr txBox="1">
            <a:spLocks noGrp="1"/>
          </p:cNvSpPr>
          <p:nvPr>
            <p:ph type="body" idx="2"/>
          </p:nvPr>
        </p:nvSpPr>
        <p:spPr>
          <a:xfrm>
            <a:off x="315425" y="605625"/>
            <a:ext cx="3706500" cy="3762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Software Development &amp; Problem Solving is designed for students of </a:t>
            </a:r>
            <a:r>
              <a:rPr lang="en" b="1" i="1">
                <a:solidFill>
                  <a:srgbClr val="EA9999"/>
                </a:solidFill>
              </a:rPr>
              <a:t>all</a:t>
            </a:r>
            <a:r>
              <a:rPr lang="en">
                <a:solidFill>
                  <a:srgbClr val="EA9999"/>
                </a:solidFill>
              </a:rPr>
              <a:t> </a:t>
            </a:r>
            <a:r>
              <a:rPr lang="en"/>
              <a:t>levels of experience. There are students in this classroom with little or no programming experience, students who have been coding for years, and every skill level in between.</a:t>
            </a:r>
            <a:endParaRPr/>
          </a:p>
          <a:p>
            <a:pPr marL="0" lvl="0" indent="0" algn="l" rtl="0">
              <a:spcBef>
                <a:spcPts val="1600"/>
              </a:spcBef>
              <a:spcAft>
                <a:spcPts val="0"/>
              </a:spcAft>
              <a:buNone/>
            </a:pPr>
            <a:r>
              <a:rPr lang="en"/>
              <a:t>Spend a few minutes talking with your team members about your prior experience with programming (in any language, not just Python). </a:t>
            </a:r>
            <a:endParaRPr/>
          </a:p>
          <a:p>
            <a:pPr marL="0" lvl="0" indent="0" algn="l" rtl="0">
              <a:spcBef>
                <a:spcPts val="1600"/>
              </a:spcBef>
              <a:spcAft>
                <a:spcPts val="0"/>
              </a:spcAft>
              <a:buNone/>
            </a:pPr>
            <a:r>
              <a:rPr lang="en"/>
              <a:t>Rate yourselves on a scale of </a:t>
            </a:r>
            <a:r>
              <a:rPr lang="en" b="1" i="1">
                <a:solidFill>
                  <a:srgbClr val="EA9999"/>
                </a:solidFill>
              </a:rPr>
              <a:t>0</a:t>
            </a:r>
            <a:r>
              <a:rPr lang="en"/>
              <a:t> (very little or no experience) to </a:t>
            </a:r>
            <a:r>
              <a:rPr lang="en" b="1" i="1">
                <a:solidFill>
                  <a:srgbClr val="EA9999"/>
                </a:solidFill>
              </a:rPr>
              <a:t>10</a:t>
            </a:r>
            <a:r>
              <a:rPr lang="en"/>
              <a:t> (you should be teaching this class!).</a:t>
            </a:r>
            <a:endParaRPr/>
          </a:p>
          <a:p>
            <a:pPr marL="0" lvl="0" indent="0" algn="l" rtl="0">
              <a:spcBef>
                <a:spcPts val="1600"/>
              </a:spcBef>
              <a:spcAft>
                <a:spcPts val="1600"/>
              </a:spcAft>
              <a:buNone/>
            </a:pPr>
            <a:r>
              <a:rPr lang="en"/>
              <a:t>Fill out the tables with each of your answers.</a:t>
            </a:r>
            <a:endParaRPr/>
          </a:p>
        </p:txBody>
      </p:sp>
      <p:graphicFrame>
        <p:nvGraphicFramePr>
          <p:cNvPr id="81" name="Google Shape;81;p14"/>
          <p:cNvGraphicFramePr/>
          <p:nvPr>
            <p:extLst>
              <p:ext uri="{D42A27DB-BD31-4B8C-83A1-F6EECF244321}">
                <p14:modId xmlns:p14="http://schemas.microsoft.com/office/powerpoint/2010/main" val="1937773922"/>
              </p:ext>
            </p:extLst>
          </p:nvPr>
        </p:nvGraphicFramePr>
        <p:xfrm>
          <a:off x="4531700" y="464600"/>
          <a:ext cx="4360000" cy="1600140"/>
        </p:xfrm>
        <a:graphic>
          <a:graphicData uri="http://schemas.openxmlformats.org/drawingml/2006/table">
            <a:tbl>
              <a:tblPr>
                <a:noFill/>
                <a:tableStyleId>{BE443BAE-6E5C-4F2B-8E36-E3E00C354881}</a:tableStyleId>
              </a:tblPr>
              <a:tblGrid>
                <a:gridCol w="2618425">
                  <a:extLst>
                    <a:ext uri="{9D8B030D-6E8A-4147-A177-3AD203B41FA5}">
                      <a16:colId xmlns:a16="http://schemas.microsoft.com/office/drawing/2014/main" val="20000"/>
                    </a:ext>
                  </a:extLst>
                </a:gridCol>
                <a:gridCol w="1741575">
                  <a:extLst>
                    <a:ext uri="{9D8B030D-6E8A-4147-A177-3AD203B41FA5}">
                      <a16:colId xmlns:a16="http://schemas.microsoft.com/office/drawing/2014/main" val="20001"/>
                    </a:ext>
                  </a:extLst>
                </a:gridCol>
              </a:tblGrid>
              <a:tr h="509445">
                <a:tc>
                  <a:txBody>
                    <a:bodyPr/>
                    <a:lstStyle/>
                    <a:p>
                      <a:pPr marL="0" lvl="0" indent="0" algn="l" rtl="0">
                        <a:spcBef>
                          <a:spcPts val="0"/>
                        </a:spcBef>
                        <a:spcAft>
                          <a:spcPts val="0"/>
                        </a:spcAft>
                        <a:buNone/>
                      </a:pPr>
                      <a:r>
                        <a:rPr lang="en" sz="900" dirty="0"/>
                        <a:t>Name:</a:t>
                      </a:r>
                      <a:endParaRPr sz="900" dirty="0"/>
                    </a:p>
                    <a:p>
                      <a:pPr marL="0" lvl="0" indent="0" algn="l" rtl="0">
                        <a:spcBef>
                          <a:spcPts val="0"/>
                        </a:spcBef>
                        <a:spcAft>
                          <a:spcPts val="0"/>
                        </a:spcAft>
                        <a:buNone/>
                      </a:pPr>
                      <a:r>
                        <a:rPr lang="en-US" sz="900" dirty="0"/>
                        <a:t>Alex</a:t>
                      </a:r>
                      <a:endParaRPr sz="900"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900" dirty="0"/>
                        <a:t>Prior Experience (0-10):</a:t>
                      </a:r>
                      <a:endParaRPr sz="900" dirty="0"/>
                    </a:p>
                    <a:p>
                      <a:pPr marL="0" lvl="0" indent="0" algn="l" rtl="0">
                        <a:spcBef>
                          <a:spcPts val="0"/>
                        </a:spcBef>
                        <a:spcAft>
                          <a:spcPts val="0"/>
                        </a:spcAft>
                        <a:buNone/>
                      </a:pPr>
                      <a:r>
                        <a:rPr lang="en-US" sz="900" dirty="0"/>
                        <a:t>5</a:t>
                      </a:r>
                      <a:endParaRPr sz="900" dirty="0"/>
                    </a:p>
                    <a:p>
                      <a:pPr marL="0" lvl="0" indent="0" algn="l" rtl="0">
                        <a:spcBef>
                          <a:spcPts val="0"/>
                        </a:spcBef>
                        <a:spcAft>
                          <a:spcPts val="0"/>
                        </a:spcAft>
                        <a:buNone/>
                      </a:pPr>
                      <a:endParaRPr sz="900"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62155">
                <a:tc gridSpan="2">
                  <a:txBody>
                    <a:bodyPr/>
                    <a:lstStyle/>
                    <a:p>
                      <a:pPr marL="0" lvl="0" indent="0" algn="l" rtl="0">
                        <a:spcBef>
                          <a:spcPts val="0"/>
                        </a:spcBef>
                        <a:spcAft>
                          <a:spcPts val="0"/>
                        </a:spcAft>
                        <a:buNone/>
                      </a:pPr>
                      <a:r>
                        <a:rPr lang="en" sz="900" dirty="0"/>
                        <a:t>Comments:</a:t>
                      </a:r>
                      <a:endParaRPr sz="900" dirty="0"/>
                    </a:p>
                    <a:p>
                      <a:pPr marL="0" lvl="0" indent="0" algn="l" rtl="0">
                        <a:spcBef>
                          <a:spcPts val="0"/>
                        </a:spcBef>
                        <a:spcAft>
                          <a:spcPts val="0"/>
                        </a:spcAft>
                        <a:buNone/>
                      </a:pPr>
                      <a:r>
                        <a:rPr lang="en-US" sz="900" dirty="0"/>
                        <a:t>I am excited to continue studying java and python to work on my own projects, help others with their own problem-solving skills and eventually work in a career with software development.</a:t>
                      </a:r>
                      <a:endParaRPr sz="900" dirty="0"/>
                    </a:p>
                    <a:p>
                      <a:pPr marL="0" lvl="0" indent="0" algn="l" rtl="0">
                        <a:spcBef>
                          <a:spcPts val="0"/>
                        </a:spcBef>
                        <a:spcAft>
                          <a:spcPts val="0"/>
                        </a:spcAft>
                        <a:buNone/>
                      </a:pPr>
                      <a:endParaRPr sz="900" dirty="0"/>
                    </a:p>
                    <a:p>
                      <a:pPr marL="0" lvl="0" indent="0" algn="l" rtl="0">
                        <a:spcBef>
                          <a:spcPts val="0"/>
                        </a:spcBef>
                        <a:spcAft>
                          <a:spcPts val="0"/>
                        </a:spcAft>
                        <a:buNone/>
                      </a:pPr>
                      <a:endParaRPr sz="900"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84" name="Google Shape;84;p14"/>
          <p:cNvSpPr txBox="1">
            <a:spLocks noGrp="1"/>
          </p:cNvSpPr>
          <p:nvPr>
            <p:ph type="body" idx="3"/>
          </p:nvPr>
        </p:nvSpPr>
        <p:spPr>
          <a:xfrm>
            <a:off x="311725" y="4361100"/>
            <a:ext cx="3706500" cy="5850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If you are working digitally and need more space, duplicate this slide.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90" name="Google Shape;90;p15"/>
          <p:cNvSpPr txBox="1">
            <a:spLocks noGrp="1"/>
          </p:cNvSpPr>
          <p:nvPr>
            <p:ph type="title"/>
          </p:nvPr>
        </p:nvSpPr>
        <p:spPr>
          <a:xfrm>
            <a:off x="5264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2</a:t>
            </a:r>
            <a:endParaRPr/>
          </a:p>
        </p:txBody>
      </p:sp>
      <p:sp>
        <p:nvSpPr>
          <p:cNvPr id="91" name="Google Shape;91;p15"/>
          <p:cNvSpPr txBox="1">
            <a:spLocks noGrp="1"/>
          </p:cNvSpPr>
          <p:nvPr>
            <p:ph type="body" idx="2"/>
          </p:nvPr>
        </p:nvSpPr>
        <p:spPr>
          <a:xfrm>
            <a:off x="5025325" y="681825"/>
            <a:ext cx="3945900" cy="41868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Files in the file system are organized into a </a:t>
            </a:r>
            <a:r>
              <a:rPr lang="en" b="1" i="1">
                <a:solidFill>
                  <a:srgbClr val="EA9999"/>
                </a:solidFill>
              </a:rPr>
              <a:t>tree structure</a:t>
            </a:r>
            <a:r>
              <a:rPr lang="en"/>
              <a:t>. Visualizing this structure can make finding files and directories more intuitive.</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
              <a:t>Assume that each of the following is an absolute path to a file in your file system. Draw the tree that represents the structure in the space on the left.</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
              <a:t>Your instructor will determine if you should work digitally, on paper, or on a whiteboard. Use the icons to the left as references.</a:t>
            </a:r>
            <a:endParaRPr/>
          </a:p>
        </p:txBody>
      </p:sp>
      <p:sp>
        <p:nvSpPr>
          <p:cNvPr id="92" name="Google Shape;92;p15"/>
          <p:cNvSpPr txBox="1"/>
          <p:nvPr/>
        </p:nvSpPr>
        <p:spPr>
          <a:xfrm>
            <a:off x="5025325" y="2340350"/>
            <a:ext cx="3945900" cy="15246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1C232"/>
                </a:solidFill>
                <a:latin typeface="Consolas"/>
                <a:ea typeface="Consolas"/>
                <a:cs typeface="Consolas"/>
                <a:sym typeface="Consolas"/>
              </a:rPr>
              <a:t>C:\Users\Ron\Documents\biography.txt</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C:\Users\Ron\SoftDevI\Week01\homework.txt</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C:\Users\Harry\todo_list.txt</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C:\Program Files\Python\python.exe</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C:\Program Files\Git\git.exe</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D:\Games\WoW\wow.exe</a:t>
            </a:r>
            <a:endParaRPr sz="1200">
              <a:solidFill>
                <a:srgbClr val="F1C232"/>
              </a:solidFill>
              <a:latin typeface="Consolas"/>
              <a:ea typeface="Consolas"/>
              <a:cs typeface="Consolas"/>
              <a:sym typeface="Consolas"/>
            </a:endParaRPr>
          </a:p>
          <a:p>
            <a:pPr marL="0" lvl="0" indent="0" algn="l" rtl="0">
              <a:spcBef>
                <a:spcPts val="0"/>
              </a:spcBef>
              <a:spcAft>
                <a:spcPts val="0"/>
              </a:spcAft>
              <a:buNone/>
            </a:pPr>
            <a:r>
              <a:rPr lang="en" sz="1200">
                <a:solidFill>
                  <a:srgbClr val="F1C232"/>
                </a:solidFill>
                <a:latin typeface="Consolas"/>
                <a:ea typeface="Consolas"/>
                <a:cs typeface="Consolas"/>
                <a:sym typeface="Consolas"/>
              </a:rPr>
              <a:t>D:\stuff.txt</a:t>
            </a:r>
            <a:endParaRPr sz="1200">
              <a:solidFill>
                <a:srgbClr val="F1C232"/>
              </a:solidFill>
              <a:latin typeface="Consolas"/>
              <a:ea typeface="Consolas"/>
              <a:cs typeface="Consolas"/>
              <a:sym typeface="Consolas"/>
            </a:endParaRPr>
          </a:p>
        </p:txBody>
      </p:sp>
      <p:sp>
        <p:nvSpPr>
          <p:cNvPr id="93" name="Google Shape;93;p15"/>
          <p:cNvSpPr/>
          <p:nvPr/>
        </p:nvSpPr>
        <p:spPr>
          <a:xfrm>
            <a:off x="2845461" y="212306"/>
            <a:ext cx="502850" cy="399175"/>
          </a:xfrm>
          <a:prstGeom prst="flowChartMagneticDisk">
            <a:avLst/>
          </a:prstGeom>
          <a:solidFill>
            <a:srgbClr val="D9D9D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nsolas"/>
                <a:ea typeface="Consolas"/>
                <a:cs typeface="Consolas"/>
                <a:sym typeface="Consolas"/>
              </a:rPr>
              <a:t>X:</a:t>
            </a:r>
            <a:endParaRPr>
              <a:latin typeface="Consolas"/>
              <a:ea typeface="Consolas"/>
              <a:cs typeface="Consolas"/>
              <a:sym typeface="Consolas"/>
            </a:endParaRPr>
          </a:p>
        </p:txBody>
      </p:sp>
      <p:sp>
        <p:nvSpPr>
          <p:cNvPr id="94" name="Google Shape;94;p15"/>
          <p:cNvSpPr/>
          <p:nvPr/>
        </p:nvSpPr>
        <p:spPr>
          <a:xfrm>
            <a:off x="1761542" y="265054"/>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Consolas"/>
                <a:ea typeface="Consolas"/>
                <a:cs typeface="Consolas"/>
                <a:sym typeface="Consolas"/>
              </a:rPr>
              <a:t>Dir</a:t>
            </a:r>
            <a:endParaRPr sz="1200">
              <a:latin typeface="Consolas"/>
              <a:ea typeface="Consolas"/>
              <a:cs typeface="Consolas"/>
              <a:sym typeface="Consolas"/>
            </a:endParaRPr>
          </a:p>
        </p:txBody>
      </p:sp>
      <p:pic>
        <p:nvPicPr>
          <p:cNvPr id="95" name="Google Shape;95;p15"/>
          <p:cNvPicPr preferRelativeResize="0"/>
          <p:nvPr/>
        </p:nvPicPr>
        <p:blipFill>
          <a:blip r:embed="rId3">
            <a:alphaModFix/>
          </a:blip>
          <a:stretch>
            <a:fillRect/>
          </a:stretch>
        </p:blipFill>
        <p:spPr>
          <a:xfrm>
            <a:off x="3627850" y="265054"/>
            <a:ext cx="502851" cy="363400"/>
          </a:xfrm>
          <a:prstGeom prst="rect">
            <a:avLst/>
          </a:prstGeom>
          <a:noFill/>
          <a:ln>
            <a:noFill/>
          </a:ln>
        </p:spPr>
      </p:pic>
      <p:sp>
        <p:nvSpPr>
          <p:cNvPr id="96" name="Google Shape;96;p15"/>
          <p:cNvSpPr txBox="1"/>
          <p:nvPr/>
        </p:nvSpPr>
        <p:spPr>
          <a:xfrm>
            <a:off x="711850" y="284250"/>
            <a:ext cx="778500" cy="255300"/>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Consolas"/>
                <a:ea typeface="Consolas"/>
                <a:cs typeface="Consolas"/>
                <a:sym typeface="Consolas"/>
              </a:rPr>
              <a:t>File</a:t>
            </a:r>
            <a:endParaRPr>
              <a:solidFill>
                <a:srgbClr val="FFFFFF"/>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17E7EE7A-3517-C7C3-CEFE-33FF751CEA65}"/>
            </a:ext>
          </a:extLst>
        </p:cNvPr>
        <p:cNvGrpSpPr/>
        <p:nvPr/>
      </p:nvGrpSpPr>
      <p:grpSpPr>
        <a:xfrm>
          <a:off x="0" y="0"/>
          <a:ext cx="0" cy="0"/>
          <a:chOff x="0" y="0"/>
          <a:chExt cx="0" cy="0"/>
        </a:xfrm>
      </p:grpSpPr>
      <p:sp>
        <p:nvSpPr>
          <p:cNvPr id="89" name="Google Shape;89;p15">
            <a:extLst>
              <a:ext uri="{FF2B5EF4-FFF2-40B4-BE49-F238E27FC236}">
                <a16:creationId xmlns:a16="http://schemas.microsoft.com/office/drawing/2014/main" id="{51E9B64E-844E-2573-1124-9A77FD6E538D}"/>
              </a:ext>
            </a:extLst>
          </p:cNvPr>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90" name="Google Shape;90;p15">
            <a:extLst>
              <a:ext uri="{FF2B5EF4-FFF2-40B4-BE49-F238E27FC236}">
                <a16:creationId xmlns:a16="http://schemas.microsoft.com/office/drawing/2014/main" id="{0E9926F1-9FC6-30D0-84EF-5C8435515A9E}"/>
              </a:ext>
            </a:extLst>
          </p:cNvPr>
          <p:cNvSpPr txBox="1">
            <a:spLocks noGrp="1"/>
          </p:cNvSpPr>
          <p:nvPr>
            <p:ph type="title"/>
          </p:nvPr>
        </p:nvSpPr>
        <p:spPr>
          <a:xfrm>
            <a:off x="5264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2</a:t>
            </a:r>
            <a:endParaRPr/>
          </a:p>
        </p:txBody>
      </p:sp>
      <p:sp>
        <p:nvSpPr>
          <p:cNvPr id="91" name="Google Shape;91;p15">
            <a:extLst>
              <a:ext uri="{FF2B5EF4-FFF2-40B4-BE49-F238E27FC236}">
                <a16:creationId xmlns:a16="http://schemas.microsoft.com/office/drawing/2014/main" id="{59DFD48E-9923-869B-D3BF-8712BA8ABC0E}"/>
              </a:ext>
            </a:extLst>
          </p:cNvPr>
          <p:cNvSpPr txBox="1">
            <a:spLocks noGrp="1"/>
          </p:cNvSpPr>
          <p:nvPr>
            <p:ph type="body" idx="2"/>
          </p:nvPr>
        </p:nvSpPr>
        <p:spPr>
          <a:xfrm>
            <a:off x="5025325" y="681825"/>
            <a:ext cx="3945900" cy="41868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Files in the file system are organized into a </a:t>
            </a:r>
            <a:r>
              <a:rPr lang="en" b="1" i="1">
                <a:solidFill>
                  <a:srgbClr val="EA9999"/>
                </a:solidFill>
              </a:rPr>
              <a:t>tree structure</a:t>
            </a:r>
            <a:r>
              <a:rPr lang="en"/>
              <a:t>. Visualizing this structure can make finding files and directories more intuitive.</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
              <a:t>Assume that each of the following is an absolute path to a file in your file system. Draw the tree that represents the structure in the space on the left.</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
              <a:t>Your instructor will determine if you should work digitally, on paper, or on a whiteboard. Use the icons to the left as references.</a:t>
            </a:r>
            <a:endParaRPr/>
          </a:p>
        </p:txBody>
      </p:sp>
      <p:sp>
        <p:nvSpPr>
          <p:cNvPr id="92" name="Google Shape;92;p15">
            <a:extLst>
              <a:ext uri="{FF2B5EF4-FFF2-40B4-BE49-F238E27FC236}">
                <a16:creationId xmlns:a16="http://schemas.microsoft.com/office/drawing/2014/main" id="{118C1F30-28D6-AC12-FE0B-B6FBC6073B68}"/>
              </a:ext>
            </a:extLst>
          </p:cNvPr>
          <p:cNvSpPr txBox="1"/>
          <p:nvPr/>
        </p:nvSpPr>
        <p:spPr>
          <a:xfrm>
            <a:off x="5025325" y="2340350"/>
            <a:ext cx="3945900" cy="1524600"/>
          </a:xfrm>
          <a:prstGeom prst="rect">
            <a:avLst/>
          </a:prstGeom>
          <a:solidFill>
            <a:srgbClr val="000000"/>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rgbClr val="F1C232"/>
                </a:solidFill>
                <a:latin typeface="Consolas"/>
                <a:ea typeface="Consolas"/>
                <a:cs typeface="Consolas"/>
                <a:sym typeface="Consolas"/>
              </a:rPr>
              <a:t>C:\Users\Ron\Documents\biography.txt</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C:\Users\Ron\SoftDevI\Week01\homework.txt</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C:\Users\Harry\todo_list.txt</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C:\Program Files\Python\python.exe</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C:\Program Files\Git\git.exe</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D:\Games\WoW\wow.exe</a:t>
            </a:r>
            <a:endParaRPr sz="1200" dirty="0">
              <a:solidFill>
                <a:srgbClr val="F1C232"/>
              </a:solidFill>
              <a:latin typeface="Consolas"/>
              <a:ea typeface="Consolas"/>
              <a:cs typeface="Consolas"/>
              <a:sym typeface="Consolas"/>
            </a:endParaRPr>
          </a:p>
          <a:p>
            <a:pPr marL="0" lvl="0" indent="0" algn="l" rtl="0">
              <a:spcBef>
                <a:spcPts val="0"/>
              </a:spcBef>
              <a:spcAft>
                <a:spcPts val="0"/>
              </a:spcAft>
              <a:buNone/>
            </a:pPr>
            <a:r>
              <a:rPr lang="en" sz="1200" dirty="0">
                <a:solidFill>
                  <a:srgbClr val="F1C232"/>
                </a:solidFill>
                <a:latin typeface="Consolas"/>
                <a:ea typeface="Consolas"/>
                <a:cs typeface="Consolas"/>
                <a:sym typeface="Consolas"/>
              </a:rPr>
              <a:t>D:\stuff.txt</a:t>
            </a:r>
            <a:endParaRPr sz="1200" dirty="0">
              <a:solidFill>
                <a:srgbClr val="F1C232"/>
              </a:solidFill>
              <a:latin typeface="Consolas"/>
              <a:ea typeface="Consolas"/>
              <a:cs typeface="Consolas"/>
              <a:sym typeface="Consolas"/>
            </a:endParaRPr>
          </a:p>
        </p:txBody>
      </p:sp>
      <p:sp>
        <p:nvSpPr>
          <p:cNvPr id="93" name="Google Shape;93;p15">
            <a:extLst>
              <a:ext uri="{FF2B5EF4-FFF2-40B4-BE49-F238E27FC236}">
                <a16:creationId xmlns:a16="http://schemas.microsoft.com/office/drawing/2014/main" id="{F525C07C-2233-68FD-949A-EC1112E9C9D8}"/>
              </a:ext>
            </a:extLst>
          </p:cNvPr>
          <p:cNvSpPr/>
          <p:nvPr/>
        </p:nvSpPr>
        <p:spPr>
          <a:xfrm>
            <a:off x="2845461" y="7948"/>
            <a:ext cx="502850" cy="399175"/>
          </a:xfrm>
          <a:prstGeom prst="flowChartMagneticDisk">
            <a:avLst/>
          </a:prstGeom>
          <a:solidFill>
            <a:srgbClr val="D9D9D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nsolas"/>
                <a:ea typeface="Consolas"/>
                <a:cs typeface="Consolas"/>
                <a:sym typeface="Consolas"/>
              </a:rPr>
              <a:t>X:</a:t>
            </a:r>
            <a:endParaRPr dirty="0">
              <a:latin typeface="Consolas"/>
              <a:ea typeface="Consolas"/>
              <a:cs typeface="Consolas"/>
              <a:sym typeface="Consolas"/>
            </a:endParaRPr>
          </a:p>
        </p:txBody>
      </p:sp>
      <p:sp>
        <p:nvSpPr>
          <p:cNvPr id="94" name="Google Shape;94;p15">
            <a:extLst>
              <a:ext uri="{FF2B5EF4-FFF2-40B4-BE49-F238E27FC236}">
                <a16:creationId xmlns:a16="http://schemas.microsoft.com/office/drawing/2014/main" id="{09B5071A-ED3C-EE11-3C24-197FE513D7AF}"/>
              </a:ext>
            </a:extLst>
          </p:cNvPr>
          <p:cNvSpPr/>
          <p:nvPr/>
        </p:nvSpPr>
        <p:spPr>
          <a:xfrm>
            <a:off x="1761542" y="60696"/>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Dir</a:t>
            </a:r>
            <a:endParaRPr sz="1200" dirty="0">
              <a:latin typeface="Consolas"/>
              <a:ea typeface="Consolas"/>
              <a:cs typeface="Consolas"/>
              <a:sym typeface="Consolas"/>
            </a:endParaRPr>
          </a:p>
        </p:txBody>
      </p:sp>
      <p:pic>
        <p:nvPicPr>
          <p:cNvPr id="95" name="Google Shape;95;p15">
            <a:extLst>
              <a:ext uri="{FF2B5EF4-FFF2-40B4-BE49-F238E27FC236}">
                <a16:creationId xmlns:a16="http://schemas.microsoft.com/office/drawing/2014/main" id="{4A4BB73F-290C-BD99-5837-044D5ADC6A49}"/>
              </a:ext>
            </a:extLst>
          </p:cNvPr>
          <p:cNvPicPr preferRelativeResize="0"/>
          <p:nvPr/>
        </p:nvPicPr>
        <p:blipFill>
          <a:blip r:embed="rId3">
            <a:alphaModFix/>
          </a:blip>
          <a:stretch>
            <a:fillRect/>
          </a:stretch>
        </p:blipFill>
        <p:spPr>
          <a:xfrm>
            <a:off x="3627850" y="60696"/>
            <a:ext cx="502851" cy="363400"/>
          </a:xfrm>
          <a:prstGeom prst="rect">
            <a:avLst/>
          </a:prstGeom>
          <a:noFill/>
          <a:ln>
            <a:noFill/>
          </a:ln>
        </p:spPr>
      </p:pic>
      <p:sp>
        <p:nvSpPr>
          <p:cNvPr id="96" name="Google Shape;96;p15">
            <a:extLst>
              <a:ext uri="{FF2B5EF4-FFF2-40B4-BE49-F238E27FC236}">
                <a16:creationId xmlns:a16="http://schemas.microsoft.com/office/drawing/2014/main" id="{EE86AC70-790B-5664-8342-6D54FB3A0E14}"/>
              </a:ext>
            </a:extLst>
          </p:cNvPr>
          <p:cNvSpPr txBox="1"/>
          <p:nvPr/>
        </p:nvSpPr>
        <p:spPr>
          <a:xfrm>
            <a:off x="711850" y="79892"/>
            <a:ext cx="778500" cy="255300"/>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Consolas"/>
                <a:ea typeface="Consolas"/>
                <a:cs typeface="Consolas"/>
                <a:sym typeface="Consolas"/>
              </a:rPr>
              <a:t>File</a:t>
            </a:r>
            <a:endParaRPr dirty="0">
              <a:solidFill>
                <a:srgbClr val="FFFFFF"/>
              </a:solidFill>
              <a:latin typeface="Consolas"/>
              <a:ea typeface="Consolas"/>
              <a:cs typeface="Consolas"/>
              <a:sym typeface="Consolas"/>
            </a:endParaRPr>
          </a:p>
        </p:txBody>
      </p:sp>
      <p:sp>
        <p:nvSpPr>
          <p:cNvPr id="2" name="Google Shape;93;p15">
            <a:extLst>
              <a:ext uri="{FF2B5EF4-FFF2-40B4-BE49-F238E27FC236}">
                <a16:creationId xmlns:a16="http://schemas.microsoft.com/office/drawing/2014/main" id="{C40A9055-F0B0-CE29-883B-CA6B509674B3}"/>
              </a:ext>
            </a:extLst>
          </p:cNvPr>
          <p:cNvSpPr/>
          <p:nvPr/>
        </p:nvSpPr>
        <p:spPr>
          <a:xfrm>
            <a:off x="624181" y="880808"/>
            <a:ext cx="502850" cy="399175"/>
          </a:xfrm>
          <a:prstGeom prst="flowChartMagneticDisk">
            <a:avLst/>
          </a:prstGeom>
          <a:solidFill>
            <a:srgbClr val="D9D9D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nsolas"/>
                <a:ea typeface="Consolas"/>
                <a:cs typeface="Consolas"/>
                <a:sym typeface="Consolas"/>
              </a:rPr>
              <a:t>C:</a:t>
            </a:r>
            <a:endParaRPr dirty="0">
              <a:latin typeface="Consolas"/>
              <a:ea typeface="Consolas"/>
              <a:cs typeface="Consolas"/>
              <a:sym typeface="Consolas"/>
            </a:endParaRPr>
          </a:p>
        </p:txBody>
      </p:sp>
      <p:sp>
        <p:nvSpPr>
          <p:cNvPr id="4" name="Google Shape;94;p15">
            <a:extLst>
              <a:ext uri="{FF2B5EF4-FFF2-40B4-BE49-F238E27FC236}">
                <a16:creationId xmlns:a16="http://schemas.microsoft.com/office/drawing/2014/main" id="{F8404CC4-EFCB-2922-B8CE-1A24A2F9D538}"/>
              </a:ext>
            </a:extLst>
          </p:cNvPr>
          <p:cNvSpPr/>
          <p:nvPr/>
        </p:nvSpPr>
        <p:spPr>
          <a:xfrm>
            <a:off x="496808" y="1664880"/>
            <a:ext cx="667174"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Users</a:t>
            </a:r>
            <a:endParaRPr sz="1200" dirty="0">
              <a:latin typeface="Consolas"/>
              <a:ea typeface="Consolas"/>
              <a:cs typeface="Consolas"/>
              <a:sym typeface="Consolas"/>
            </a:endParaRPr>
          </a:p>
        </p:txBody>
      </p:sp>
      <p:sp>
        <p:nvSpPr>
          <p:cNvPr id="5" name="Google Shape;94;p15">
            <a:extLst>
              <a:ext uri="{FF2B5EF4-FFF2-40B4-BE49-F238E27FC236}">
                <a16:creationId xmlns:a16="http://schemas.microsoft.com/office/drawing/2014/main" id="{2DF65F35-3833-F4DF-AE53-5FB9D5FE0E94}"/>
              </a:ext>
            </a:extLst>
          </p:cNvPr>
          <p:cNvSpPr/>
          <p:nvPr/>
        </p:nvSpPr>
        <p:spPr>
          <a:xfrm>
            <a:off x="232808" y="2230221"/>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Ron</a:t>
            </a:r>
            <a:endParaRPr sz="1200" dirty="0">
              <a:latin typeface="Consolas"/>
              <a:ea typeface="Consolas"/>
              <a:cs typeface="Consolas"/>
              <a:sym typeface="Consolas"/>
            </a:endParaRPr>
          </a:p>
        </p:txBody>
      </p:sp>
      <p:sp>
        <p:nvSpPr>
          <p:cNvPr id="6" name="Google Shape;94;p15">
            <a:extLst>
              <a:ext uri="{FF2B5EF4-FFF2-40B4-BE49-F238E27FC236}">
                <a16:creationId xmlns:a16="http://schemas.microsoft.com/office/drawing/2014/main" id="{EF9632C8-6B92-ADBD-E4BA-31417CC4834D}"/>
              </a:ext>
            </a:extLst>
          </p:cNvPr>
          <p:cNvSpPr/>
          <p:nvPr/>
        </p:nvSpPr>
        <p:spPr>
          <a:xfrm>
            <a:off x="1351199" y="2985665"/>
            <a:ext cx="1005721"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Documents</a:t>
            </a:r>
            <a:endParaRPr sz="1200" dirty="0">
              <a:latin typeface="Consolas"/>
              <a:ea typeface="Consolas"/>
              <a:cs typeface="Consolas"/>
              <a:sym typeface="Consolas"/>
            </a:endParaRPr>
          </a:p>
        </p:txBody>
      </p:sp>
      <p:sp>
        <p:nvSpPr>
          <p:cNvPr id="9" name="Google Shape;96;p15">
            <a:extLst>
              <a:ext uri="{FF2B5EF4-FFF2-40B4-BE49-F238E27FC236}">
                <a16:creationId xmlns:a16="http://schemas.microsoft.com/office/drawing/2014/main" id="{4A233FD5-82FE-B63C-05A4-8E45F6A2F0F6}"/>
              </a:ext>
            </a:extLst>
          </p:cNvPr>
          <p:cNvSpPr txBox="1"/>
          <p:nvPr/>
        </p:nvSpPr>
        <p:spPr>
          <a:xfrm>
            <a:off x="1166085" y="3942375"/>
            <a:ext cx="1509742" cy="304973"/>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Consolas"/>
                <a:ea typeface="Consolas"/>
                <a:cs typeface="Consolas"/>
                <a:sym typeface="Consolas"/>
              </a:rPr>
              <a:t>biography.txt</a:t>
            </a:r>
            <a:endParaRPr dirty="0">
              <a:solidFill>
                <a:srgbClr val="FFFFFF"/>
              </a:solidFill>
              <a:latin typeface="Consolas"/>
              <a:ea typeface="Consolas"/>
              <a:cs typeface="Consolas"/>
              <a:sym typeface="Consolas"/>
            </a:endParaRPr>
          </a:p>
        </p:txBody>
      </p:sp>
      <p:sp>
        <p:nvSpPr>
          <p:cNvPr id="10" name="Google Shape;93;p15">
            <a:extLst>
              <a:ext uri="{FF2B5EF4-FFF2-40B4-BE49-F238E27FC236}">
                <a16:creationId xmlns:a16="http://schemas.microsoft.com/office/drawing/2014/main" id="{56BDD4DA-50C4-1E3D-E2D8-A446611368D4}"/>
              </a:ext>
            </a:extLst>
          </p:cNvPr>
          <p:cNvSpPr/>
          <p:nvPr/>
        </p:nvSpPr>
        <p:spPr>
          <a:xfrm>
            <a:off x="3615826" y="1154310"/>
            <a:ext cx="502850" cy="399175"/>
          </a:xfrm>
          <a:prstGeom prst="flowChartMagneticDisk">
            <a:avLst/>
          </a:prstGeom>
          <a:solidFill>
            <a:srgbClr val="D9D9D9"/>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Consolas"/>
                <a:ea typeface="Consolas"/>
                <a:cs typeface="Consolas"/>
                <a:sym typeface="Consolas"/>
              </a:rPr>
              <a:t>D:</a:t>
            </a:r>
            <a:endParaRPr dirty="0">
              <a:latin typeface="Consolas"/>
              <a:ea typeface="Consolas"/>
              <a:cs typeface="Consolas"/>
              <a:sym typeface="Consolas"/>
            </a:endParaRPr>
          </a:p>
        </p:txBody>
      </p:sp>
      <p:pic>
        <p:nvPicPr>
          <p:cNvPr id="11" name="Google Shape;95;p15">
            <a:extLst>
              <a:ext uri="{FF2B5EF4-FFF2-40B4-BE49-F238E27FC236}">
                <a16:creationId xmlns:a16="http://schemas.microsoft.com/office/drawing/2014/main" id="{455DD5BE-DE74-31A7-0335-D1C5F0F4FAA8}"/>
              </a:ext>
            </a:extLst>
          </p:cNvPr>
          <p:cNvPicPr preferRelativeResize="0"/>
          <p:nvPr/>
        </p:nvPicPr>
        <p:blipFill>
          <a:blip r:embed="rId3">
            <a:alphaModFix/>
          </a:blip>
          <a:stretch>
            <a:fillRect/>
          </a:stretch>
        </p:blipFill>
        <p:spPr>
          <a:xfrm>
            <a:off x="2014263" y="390171"/>
            <a:ext cx="502851" cy="363400"/>
          </a:xfrm>
          <a:prstGeom prst="rect">
            <a:avLst/>
          </a:prstGeom>
          <a:noFill/>
          <a:ln>
            <a:noFill/>
          </a:ln>
        </p:spPr>
      </p:pic>
      <p:sp>
        <p:nvSpPr>
          <p:cNvPr id="12" name="Google Shape;94;p15">
            <a:extLst>
              <a:ext uri="{FF2B5EF4-FFF2-40B4-BE49-F238E27FC236}">
                <a16:creationId xmlns:a16="http://schemas.microsoft.com/office/drawing/2014/main" id="{A4F32992-91D6-D037-5EB8-51CE6CDBCE39}"/>
              </a:ext>
            </a:extLst>
          </p:cNvPr>
          <p:cNvSpPr/>
          <p:nvPr/>
        </p:nvSpPr>
        <p:spPr>
          <a:xfrm>
            <a:off x="81324" y="2982852"/>
            <a:ext cx="1234427"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SoftwareDevI</a:t>
            </a:r>
            <a:endParaRPr sz="1200" dirty="0">
              <a:latin typeface="Consolas"/>
              <a:ea typeface="Consolas"/>
              <a:cs typeface="Consolas"/>
              <a:sym typeface="Consolas"/>
            </a:endParaRPr>
          </a:p>
        </p:txBody>
      </p:sp>
      <p:sp>
        <p:nvSpPr>
          <p:cNvPr id="13" name="Google Shape;94;p15">
            <a:extLst>
              <a:ext uri="{FF2B5EF4-FFF2-40B4-BE49-F238E27FC236}">
                <a16:creationId xmlns:a16="http://schemas.microsoft.com/office/drawing/2014/main" id="{971051A9-1769-0548-D277-7A3FD0E74871}"/>
              </a:ext>
            </a:extLst>
          </p:cNvPr>
          <p:cNvSpPr/>
          <p:nvPr/>
        </p:nvSpPr>
        <p:spPr>
          <a:xfrm>
            <a:off x="262856" y="3602800"/>
            <a:ext cx="752603" cy="308146"/>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Week01</a:t>
            </a:r>
            <a:endParaRPr sz="1200" dirty="0">
              <a:latin typeface="Consolas"/>
              <a:ea typeface="Consolas"/>
              <a:cs typeface="Consolas"/>
              <a:sym typeface="Consolas"/>
            </a:endParaRPr>
          </a:p>
        </p:txBody>
      </p:sp>
      <p:sp>
        <p:nvSpPr>
          <p:cNvPr id="14" name="Google Shape;94;p15">
            <a:extLst>
              <a:ext uri="{FF2B5EF4-FFF2-40B4-BE49-F238E27FC236}">
                <a16:creationId xmlns:a16="http://schemas.microsoft.com/office/drawing/2014/main" id="{B6FB95D2-A02E-14F3-79FF-4317DB2BA405}"/>
              </a:ext>
            </a:extLst>
          </p:cNvPr>
          <p:cNvSpPr/>
          <p:nvPr/>
        </p:nvSpPr>
        <p:spPr>
          <a:xfrm>
            <a:off x="1179369" y="2230221"/>
            <a:ext cx="716199"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Harry</a:t>
            </a:r>
            <a:endParaRPr sz="1200" dirty="0">
              <a:latin typeface="Consolas"/>
              <a:ea typeface="Consolas"/>
              <a:cs typeface="Consolas"/>
              <a:sym typeface="Consolas"/>
            </a:endParaRPr>
          </a:p>
        </p:txBody>
      </p:sp>
      <p:sp>
        <p:nvSpPr>
          <p:cNvPr id="15" name="Google Shape;94;p15">
            <a:extLst>
              <a:ext uri="{FF2B5EF4-FFF2-40B4-BE49-F238E27FC236}">
                <a16:creationId xmlns:a16="http://schemas.microsoft.com/office/drawing/2014/main" id="{8FFE27E9-3373-A868-3A8C-D450F839202F}"/>
              </a:ext>
            </a:extLst>
          </p:cNvPr>
          <p:cNvSpPr/>
          <p:nvPr/>
        </p:nvSpPr>
        <p:spPr>
          <a:xfrm>
            <a:off x="2629453" y="1732903"/>
            <a:ext cx="871687" cy="399175"/>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Program Files</a:t>
            </a:r>
            <a:endParaRPr sz="1200" dirty="0">
              <a:latin typeface="Consolas"/>
              <a:ea typeface="Consolas"/>
              <a:cs typeface="Consolas"/>
              <a:sym typeface="Consolas"/>
            </a:endParaRPr>
          </a:p>
        </p:txBody>
      </p:sp>
      <p:sp>
        <p:nvSpPr>
          <p:cNvPr id="17" name="Google Shape;94;p15">
            <a:extLst>
              <a:ext uri="{FF2B5EF4-FFF2-40B4-BE49-F238E27FC236}">
                <a16:creationId xmlns:a16="http://schemas.microsoft.com/office/drawing/2014/main" id="{31BD4E64-6D9F-6D1D-C027-3929B83B30DF}"/>
              </a:ext>
            </a:extLst>
          </p:cNvPr>
          <p:cNvSpPr/>
          <p:nvPr/>
        </p:nvSpPr>
        <p:spPr>
          <a:xfrm>
            <a:off x="2867796" y="1076141"/>
            <a:ext cx="496605"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Git</a:t>
            </a:r>
            <a:endParaRPr sz="1200" dirty="0">
              <a:latin typeface="Consolas"/>
              <a:ea typeface="Consolas"/>
              <a:cs typeface="Consolas"/>
              <a:sym typeface="Consolas"/>
            </a:endParaRPr>
          </a:p>
        </p:txBody>
      </p:sp>
      <p:sp>
        <p:nvSpPr>
          <p:cNvPr id="18" name="Google Shape;94;p15">
            <a:extLst>
              <a:ext uri="{FF2B5EF4-FFF2-40B4-BE49-F238E27FC236}">
                <a16:creationId xmlns:a16="http://schemas.microsoft.com/office/drawing/2014/main" id="{67D480AA-8CF1-BA9C-7310-E943EC892BE5}"/>
              </a:ext>
            </a:extLst>
          </p:cNvPr>
          <p:cNvSpPr/>
          <p:nvPr/>
        </p:nvSpPr>
        <p:spPr>
          <a:xfrm>
            <a:off x="2110764" y="2230221"/>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Python</a:t>
            </a:r>
            <a:endParaRPr sz="1200" dirty="0">
              <a:latin typeface="Consolas"/>
              <a:ea typeface="Consolas"/>
              <a:cs typeface="Consolas"/>
              <a:sym typeface="Consolas"/>
            </a:endParaRPr>
          </a:p>
        </p:txBody>
      </p:sp>
      <p:sp>
        <p:nvSpPr>
          <p:cNvPr id="19" name="Google Shape;94;p15">
            <a:extLst>
              <a:ext uri="{FF2B5EF4-FFF2-40B4-BE49-F238E27FC236}">
                <a16:creationId xmlns:a16="http://schemas.microsoft.com/office/drawing/2014/main" id="{7FE5C23D-4919-13AF-F3DC-667F525B70FE}"/>
              </a:ext>
            </a:extLst>
          </p:cNvPr>
          <p:cNvSpPr/>
          <p:nvPr/>
        </p:nvSpPr>
        <p:spPr>
          <a:xfrm>
            <a:off x="4032560" y="2499512"/>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dirty="0">
                <a:latin typeface="Consolas"/>
                <a:ea typeface="Consolas"/>
                <a:cs typeface="Consolas"/>
                <a:sym typeface="Consolas"/>
              </a:rPr>
              <a:t>WoW</a:t>
            </a:r>
            <a:endParaRPr sz="1200" dirty="0">
              <a:latin typeface="Consolas"/>
              <a:ea typeface="Consolas"/>
              <a:cs typeface="Consolas"/>
              <a:sym typeface="Consolas"/>
            </a:endParaRPr>
          </a:p>
        </p:txBody>
      </p:sp>
      <p:sp>
        <p:nvSpPr>
          <p:cNvPr id="20" name="Google Shape;94;p15">
            <a:extLst>
              <a:ext uri="{FF2B5EF4-FFF2-40B4-BE49-F238E27FC236}">
                <a16:creationId xmlns:a16="http://schemas.microsoft.com/office/drawing/2014/main" id="{647235D2-3875-A7F0-EB4A-3605739FD41B}"/>
              </a:ext>
            </a:extLst>
          </p:cNvPr>
          <p:cNvSpPr/>
          <p:nvPr/>
        </p:nvSpPr>
        <p:spPr>
          <a:xfrm>
            <a:off x="3997429" y="1785641"/>
            <a:ext cx="812700" cy="293700"/>
          </a:xfrm>
          <a:prstGeom prst="roundRect">
            <a:avLst>
              <a:gd name="adj" fmla="val 16667"/>
            </a:avLst>
          </a:prstGeom>
          <a:solidFill>
            <a:srgbClr val="FFF2CC"/>
          </a:solidFill>
          <a:ln w="19050" cap="flat" cmpd="sng">
            <a:solidFill>
              <a:srgbClr val="BF9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latin typeface="Consolas"/>
                <a:ea typeface="Consolas"/>
                <a:cs typeface="Consolas"/>
                <a:sym typeface="Consolas"/>
              </a:rPr>
              <a:t>Games</a:t>
            </a:r>
            <a:endParaRPr sz="1200" dirty="0">
              <a:latin typeface="Consolas"/>
              <a:ea typeface="Consolas"/>
              <a:cs typeface="Consolas"/>
              <a:sym typeface="Consolas"/>
            </a:endParaRPr>
          </a:p>
        </p:txBody>
      </p:sp>
      <p:sp>
        <p:nvSpPr>
          <p:cNvPr id="21" name="Google Shape;96;p15">
            <a:extLst>
              <a:ext uri="{FF2B5EF4-FFF2-40B4-BE49-F238E27FC236}">
                <a16:creationId xmlns:a16="http://schemas.microsoft.com/office/drawing/2014/main" id="{EBF79997-4DF1-08AA-B14F-48B3325B4786}"/>
              </a:ext>
            </a:extLst>
          </p:cNvPr>
          <p:cNvSpPr txBox="1"/>
          <p:nvPr/>
        </p:nvSpPr>
        <p:spPr>
          <a:xfrm>
            <a:off x="3830112" y="4358244"/>
            <a:ext cx="977219" cy="356628"/>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Consolas"/>
                <a:ea typeface="Consolas"/>
                <a:cs typeface="Consolas"/>
                <a:sym typeface="Consolas"/>
              </a:rPr>
              <a:t>wow</a:t>
            </a:r>
            <a:r>
              <a:rPr lang="en" dirty="0">
                <a:solidFill>
                  <a:srgbClr val="FFFFFF"/>
                </a:solidFill>
                <a:latin typeface="Consolas"/>
                <a:ea typeface="Consolas"/>
                <a:cs typeface="Consolas"/>
                <a:sym typeface="Consolas"/>
              </a:rPr>
              <a:t>.exe</a:t>
            </a:r>
            <a:endParaRPr dirty="0">
              <a:solidFill>
                <a:srgbClr val="FFFFFF"/>
              </a:solidFill>
              <a:latin typeface="Consolas"/>
              <a:ea typeface="Consolas"/>
              <a:cs typeface="Consolas"/>
              <a:sym typeface="Consolas"/>
            </a:endParaRPr>
          </a:p>
        </p:txBody>
      </p:sp>
      <p:sp>
        <p:nvSpPr>
          <p:cNvPr id="22" name="Google Shape;96;p15">
            <a:extLst>
              <a:ext uri="{FF2B5EF4-FFF2-40B4-BE49-F238E27FC236}">
                <a16:creationId xmlns:a16="http://schemas.microsoft.com/office/drawing/2014/main" id="{171FB6DD-E27C-558A-123B-28CE388CAB0C}"/>
              </a:ext>
            </a:extLst>
          </p:cNvPr>
          <p:cNvSpPr txBox="1"/>
          <p:nvPr/>
        </p:nvSpPr>
        <p:spPr>
          <a:xfrm>
            <a:off x="1520472" y="1708784"/>
            <a:ext cx="1097600" cy="259712"/>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Consolas"/>
                <a:ea typeface="Consolas"/>
                <a:cs typeface="Consolas"/>
                <a:sym typeface="Consolas"/>
              </a:rPr>
              <a:t>s</a:t>
            </a:r>
            <a:r>
              <a:rPr lang="en" dirty="0">
                <a:solidFill>
                  <a:srgbClr val="FFFFFF"/>
                </a:solidFill>
                <a:latin typeface="Consolas"/>
                <a:ea typeface="Consolas"/>
                <a:cs typeface="Consolas"/>
                <a:sym typeface="Consolas"/>
              </a:rPr>
              <a:t>tuff.txt</a:t>
            </a:r>
            <a:endParaRPr dirty="0">
              <a:solidFill>
                <a:srgbClr val="FFFFFF"/>
              </a:solidFill>
              <a:latin typeface="Consolas"/>
              <a:ea typeface="Consolas"/>
              <a:cs typeface="Consolas"/>
              <a:sym typeface="Consolas"/>
            </a:endParaRPr>
          </a:p>
        </p:txBody>
      </p:sp>
      <p:sp>
        <p:nvSpPr>
          <p:cNvPr id="23" name="Google Shape;96;p15">
            <a:extLst>
              <a:ext uri="{FF2B5EF4-FFF2-40B4-BE49-F238E27FC236}">
                <a16:creationId xmlns:a16="http://schemas.microsoft.com/office/drawing/2014/main" id="{C8F64ED0-4C5A-4C94-239F-AA21EECCF6CD}"/>
              </a:ext>
            </a:extLst>
          </p:cNvPr>
          <p:cNvSpPr txBox="1"/>
          <p:nvPr/>
        </p:nvSpPr>
        <p:spPr>
          <a:xfrm>
            <a:off x="2782528" y="2947946"/>
            <a:ext cx="1373624" cy="255300"/>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Consolas"/>
                <a:ea typeface="Consolas"/>
                <a:cs typeface="Consolas"/>
                <a:sym typeface="Consolas"/>
              </a:rPr>
              <a:t>python.exe</a:t>
            </a:r>
            <a:endParaRPr dirty="0">
              <a:solidFill>
                <a:srgbClr val="FFFFFF"/>
              </a:solidFill>
              <a:latin typeface="Consolas"/>
              <a:ea typeface="Consolas"/>
              <a:cs typeface="Consolas"/>
              <a:sym typeface="Consolas"/>
            </a:endParaRPr>
          </a:p>
        </p:txBody>
      </p:sp>
      <p:sp>
        <p:nvSpPr>
          <p:cNvPr id="24" name="Google Shape;96;p15">
            <a:extLst>
              <a:ext uri="{FF2B5EF4-FFF2-40B4-BE49-F238E27FC236}">
                <a16:creationId xmlns:a16="http://schemas.microsoft.com/office/drawing/2014/main" id="{65707A4B-98C5-74EC-A867-2D88EDC276DF}"/>
              </a:ext>
            </a:extLst>
          </p:cNvPr>
          <p:cNvSpPr txBox="1"/>
          <p:nvPr/>
        </p:nvSpPr>
        <p:spPr>
          <a:xfrm>
            <a:off x="2318960" y="3537656"/>
            <a:ext cx="1511151" cy="265889"/>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err="1">
                <a:solidFill>
                  <a:srgbClr val="FFFFFF"/>
                </a:solidFill>
                <a:latin typeface="Consolas"/>
                <a:ea typeface="Consolas"/>
                <a:cs typeface="Consolas"/>
                <a:sym typeface="Consolas"/>
              </a:rPr>
              <a:t>todo</a:t>
            </a:r>
            <a:r>
              <a:rPr lang="en" dirty="0">
                <a:solidFill>
                  <a:srgbClr val="FFFFFF"/>
                </a:solidFill>
                <a:latin typeface="Consolas"/>
                <a:ea typeface="Consolas"/>
                <a:cs typeface="Consolas"/>
                <a:sym typeface="Consolas"/>
              </a:rPr>
              <a:t>_list.txt</a:t>
            </a:r>
            <a:endParaRPr dirty="0">
              <a:solidFill>
                <a:srgbClr val="FFFFFF"/>
              </a:solidFill>
              <a:latin typeface="Consolas"/>
              <a:ea typeface="Consolas"/>
              <a:cs typeface="Consolas"/>
              <a:sym typeface="Consolas"/>
            </a:endParaRPr>
          </a:p>
        </p:txBody>
      </p:sp>
      <p:sp>
        <p:nvSpPr>
          <p:cNvPr id="25" name="Google Shape;96;p15">
            <a:extLst>
              <a:ext uri="{FF2B5EF4-FFF2-40B4-BE49-F238E27FC236}">
                <a16:creationId xmlns:a16="http://schemas.microsoft.com/office/drawing/2014/main" id="{B616B305-0A12-F052-D25B-CBBBEB8E3F42}"/>
              </a:ext>
            </a:extLst>
          </p:cNvPr>
          <p:cNvSpPr txBox="1"/>
          <p:nvPr/>
        </p:nvSpPr>
        <p:spPr>
          <a:xfrm>
            <a:off x="26921" y="4273723"/>
            <a:ext cx="1454711" cy="208305"/>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Consolas"/>
                <a:ea typeface="Consolas"/>
                <a:cs typeface="Consolas"/>
                <a:sym typeface="Consolas"/>
              </a:rPr>
              <a:t>h</a:t>
            </a:r>
            <a:r>
              <a:rPr lang="en" dirty="0">
                <a:solidFill>
                  <a:srgbClr val="FFFFFF"/>
                </a:solidFill>
                <a:latin typeface="Consolas"/>
                <a:ea typeface="Consolas"/>
                <a:cs typeface="Consolas"/>
                <a:sym typeface="Consolas"/>
              </a:rPr>
              <a:t>omework.txt</a:t>
            </a:r>
            <a:endParaRPr dirty="0">
              <a:solidFill>
                <a:srgbClr val="FFFFFF"/>
              </a:solidFill>
              <a:latin typeface="Consolas"/>
              <a:ea typeface="Consolas"/>
              <a:cs typeface="Consolas"/>
              <a:sym typeface="Consolas"/>
            </a:endParaRPr>
          </a:p>
        </p:txBody>
      </p:sp>
      <p:cxnSp>
        <p:nvCxnSpPr>
          <p:cNvPr id="31" name="Straight Arrow Connector 30">
            <a:extLst>
              <a:ext uri="{FF2B5EF4-FFF2-40B4-BE49-F238E27FC236}">
                <a16:creationId xmlns:a16="http://schemas.microsoft.com/office/drawing/2014/main" id="{351B6258-0F0B-7B13-92FD-ECD7FABC7B70}"/>
              </a:ext>
            </a:extLst>
          </p:cNvPr>
          <p:cNvCxnSpPr>
            <a:cxnSpLocks/>
            <a:stCxn id="11" idx="1"/>
          </p:cNvCxnSpPr>
          <p:nvPr/>
        </p:nvCxnSpPr>
        <p:spPr>
          <a:xfrm flipH="1">
            <a:off x="986619" y="571871"/>
            <a:ext cx="1027644" cy="200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F81952-219E-2747-2980-61E50AA8720E}"/>
              </a:ext>
            </a:extLst>
          </p:cNvPr>
          <p:cNvCxnSpPr>
            <a:cxnSpLocks/>
            <a:stCxn id="2" idx="3"/>
            <a:endCxn id="4" idx="0"/>
          </p:cNvCxnSpPr>
          <p:nvPr/>
        </p:nvCxnSpPr>
        <p:spPr>
          <a:xfrm flipH="1">
            <a:off x="830395" y="1279983"/>
            <a:ext cx="45211" cy="384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EA364E2-7A15-0E8D-8C65-8BFB37BE2B35}"/>
              </a:ext>
            </a:extLst>
          </p:cNvPr>
          <p:cNvCxnSpPr>
            <a:cxnSpLocks/>
            <a:stCxn id="4" idx="2"/>
            <a:endCxn id="5" idx="0"/>
          </p:cNvCxnSpPr>
          <p:nvPr/>
        </p:nvCxnSpPr>
        <p:spPr>
          <a:xfrm flipH="1">
            <a:off x="639158" y="1958580"/>
            <a:ext cx="191237" cy="271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57CFCBC-549B-4259-A0B5-0D58C3CD02EF}"/>
              </a:ext>
            </a:extLst>
          </p:cNvPr>
          <p:cNvCxnSpPr>
            <a:cxnSpLocks/>
            <a:stCxn id="5" idx="2"/>
          </p:cNvCxnSpPr>
          <p:nvPr/>
        </p:nvCxnSpPr>
        <p:spPr>
          <a:xfrm flipH="1">
            <a:off x="496808" y="2523921"/>
            <a:ext cx="142350" cy="458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0332E6B-8DFA-59DA-E913-972F83530F38}"/>
              </a:ext>
            </a:extLst>
          </p:cNvPr>
          <p:cNvCxnSpPr>
            <a:cxnSpLocks/>
            <a:endCxn id="13" idx="0"/>
          </p:cNvCxnSpPr>
          <p:nvPr/>
        </p:nvCxnSpPr>
        <p:spPr>
          <a:xfrm flipH="1">
            <a:off x="639158" y="3276552"/>
            <a:ext cx="206171" cy="326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0A96F42-CF99-7D70-F161-CD75058F52DA}"/>
              </a:ext>
            </a:extLst>
          </p:cNvPr>
          <p:cNvCxnSpPr>
            <a:cxnSpLocks/>
            <a:stCxn id="13" idx="2"/>
          </p:cNvCxnSpPr>
          <p:nvPr/>
        </p:nvCxnSpPr>
        <p:spPr>
          <a:xfrm flipH="1">
            <a:off x="624181" y="3910946"/>
            <a:ext cx="14977" cy="362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63BAC31-BF92-6784-402C-CA2608751BCA}"/>
              </a:ext>
            </a:extLst>
          </p:cNvPr>
          <p:cNvCxnSpPr>
            <a:cxnSpLocks/>
            <a:stCxn id="11" idx="2"/>
            <a:endCxn id="4" idx="0"/>
          </p:cNvCxnSpPr>
          <p:nvPr/>
        </p:nvCxnSpPr>
        <p:spPr>
          <a:xfrm flipH="1">
            <a:off x="830395" y="753571"/>
            <a:ext cx="1435294" cy="91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BF3ED93-2412-35EB-0C13-BEAB8DAEF25D}"/>
              </a:ext>
            </a:extLst>
          </p:cNvPr>
          <p:cNvCxnSpPr>
            <a:cxnSpLocks/>
            <a:stCxn id="5" idx="2"/>
          </p:cNvCxnSpPr>
          <p:nvPr/>
        </p:nvCxnSpPr>
        <p:spPr>
          <a:xfrm>
            <a:off x="639158" y="2523921"/>
            <a:ext cx="953427" cy="4111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D596115-5B13-DE93-243C-B8943132902B}"/>
              </a:ext>
            </a:extLst>
          </p:cNvPr>
          <p:cNvCxnSpPr>
            <a:cxnSpLocks/>
            <a:stCxn id="6" idx="2"/>
          </p:cNvCxnSpPr>
          <p:nvPr/>
        </p:nvCxnSpPr>
        <p:spPr>
          <a:xfrm flipH="1">
            <a:off x="1821621" y="3279365"/>
            <a:ext cx="32439" cy="753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3119065-22DD-67AD-C079-18B07DE3844A}"/>
              </a:ext>
            </a:extLst>
          </p:cNvPr>
          <p:cNvCxnSpPr>
            <a:cxnSpLocks/>
            <a:stCxn id="11" idx="2"/>
            <a:endCxn id="4" idx="3"/>
          </p:cNvCxnSpPr>
          <p:nvPr/>
        </p:nvCxnSpPr>
        <p:spPr>
          <a:xfrm flipH="1">
            <a:off x="1163982" y="753571"/>
            <a:ext cx="1101707" cy="1058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8CDAFCF-1BAB-4A2E-AA3E-A01CD0EB4D55}"/>
              </a:ext>
            </a:extLst>
          </p:cNvPr>
          <p:cNvCxnSpPr>
            <a:endCxn id="14" idx="0"/>
          </p:cNvCxnSpPr>
          <p:nvPr/>
        </p:nvCxnSpPr>
        <p:spPr>
          <a:xfrm>
            <a:off x="1101100" y="1958580"/>
            <a:ext cx="436369" cy="271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7DB08C5-ADD8-BEA9-5CEF-BADAE71BA219}"/>
              </a:ext>
            </a:extLst>
          </p:cNvPr>
          <p:cNvCxnSpPr>
            <a:stCxn id="14" idx="2"/>
            <a:endCxn id="24" idx="0"/>
          </p:cNvCxnSpPr>
          <p:nvPr/>
        </p:nvCxnSpPr>
        <p:spPr>
          <a:xfrm>
            <a:off x="1537469" y="2523921"/>
            <a:ext cx="1537067" cy="101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8D88C7E7-FF20-E9E7-AEE7-1ABDEE976E03}"/>
              </a:ext>
            </a:extLst>
          </p:cNvPr>
          <p:cNvCxnSpPr>
            <a:cxnSpLocks/>
            <a:stCxn id="11" idx="2"/>
            <a:endCxn id="15" idx="0"/>
          </p:cNvCxnSpPr>
          <p:nvPr/>
        </p:nvCxnSpPr>
        <p:spPr>
          <a:xfrm>
            <a:off x="2265689" y="753571"/>
            <a:ext cx="799608" cy="97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5CC3BE3-AABD-86C2-7441-1BF7EFBD2CB9}"/>
              </a:ext>
            </a:extLst>
          </p:cNvPr>
          <p:cNvCxnSpPr>
            <a:cxnSpLocks/>
            <a:stCxn id="15" idx="2"/>
            <a:endCxn id="18" idx="0"/>
          </p:cNvCxnSpPr>
          <p:nvPr/>
        </p:nvCxnSpPr>
        <p:spPr>
          <a:xfrm flipH="1">
            <a:off x="2517114" y="2132078"/>
            <a:ext cx="548183" cy="98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296F0D4-2FFB-8A7B-AB89-EC6F5DF179C2}"/>
              </a:ext>
            </a:extLst>
          </p:cNvPr>
          <p:cNvCxnSpPr>
            <a:stCxn id="18" idx="2"/>
            <a:endCxn id="23" idx="0"/>
          </p:cNvCxnSpPr>
          <p:nvPr/>
        </p:nvCxnSpPr>
        <p:spPr>
          <a:xfrm>
            <a:off x="2517114" y="2523921"/>
            <a:ext cx="952226" cy="424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C88CDF7-CD0E-636E-7F73-CAA8E3401B05}"/>
              </a:ext>
            </a:extLst>
          </p:cNvPr>
          <p:cNvCxnSpPr>
            <a:cxnSpLocks/>
            <a:stCxn id="11" idx="2"/>
            <a:endCxn id="17" idx="0"/>
          </p:cNvCxnSpPr>
          <p:nvPr/>
        </p:nvCxnSpPr>
        <p:spPr>
          <a:xfrm>
            <a:off x="2265689" y="753571"/>
            <a:ext cx="850410" cy="322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070DC93-664B-C3F6-B963-1E426FC5E563}"/>
              </a:ext>
            </a:extLst>
          </p:cNvPr>
          <p:cNvCxnSpPr>
            <a:stCxn id="11" idx="2"/>
            <a:endCxn id="10" idx="1"/>
          </p:cNvCxnSpPr>
          <p:nvPr/>
        </p:nvCxnSpPr>
        <p:spPr>
          <a:xfrm>
            <a:off x="2265689" y="753571"/>
            <a:ext cx="1601562" cy="400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F3D39FA-A720-891A-3EC9-FD12F1F2F6CC}"/>
              </a:ext>
            </a:extLst>
          </p:cNvPr>
          <p:cNvCxnSpPr>
            <a:stCxn id="10" idx="3"/>
            <a:endCxn id="20" idx="0"/>
          </p:cNvCxnSpPr>
          <p:nvPr/>
        </p:nvCxnSpPr>
        <p:spPr>
          <a:xfrm>
            <a:off x="3867251" y="1553485"/>
            <a:ext cx="536528" cy="232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99C8FE97-F1AB-1569-394B-B031B50889CB}"/>
              </a:ext>
            </a:extLst>
          </p:cNvPr>
          <p:cNvCxnSpPr>
            <a:cxnSpLocks/>
            <a:stCxn id="20" idx="2"/>
            <a:endCxn id="19" idx="0"/>
          </p:cNvCxnSpPr>
          <p:nvPr/>
        </p:nvCxnSpPr>
        <p:spPr>
          <a:xfrm>
            <a:off x="4403779" y="2079341"/>
            <a:ext cx="35131" cy="420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CA5BE3A-82FB-A3DD-EE30-98D9967D3D15}"/>
              </a:ext>
            </a:extLst>
          </p:cNvPr>
          <p:cNvCxnSpPr>
            <a:cxnSpLocks/>
            <a:stCxn id="19" idx="2"/>
            <a:endCxn id="21" idx="0"/>
          </p:cNvCxnSpPr>
          <p:nvPr/>
        </p:nvCxnSpPr>
        <p:spPr>
          <a:xfrm flipH="1">
            <a:off x="4318722" y="2793212"/>
            <a:ext cx="120188" cy="1565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A5F84590-A598-4C60-ACB3-92D6178E48B1}"/>
              </a:ext>
            </a:extLst>
          </p:cNvPr>
          <p:cNvCxnSpPr>
            <a:stCxn id="11" idx="2"/>
            <a:endCxn id="22" idx="0"/>
          </p:cNvCxnSpPr>
          <p:nvPr/>
        </p:nvCxnSpPr>
        <p:spPr>
          <a:xfrm flipH="1">
            <a:off x="2069272" y="753571"/>
            <a:ext cx="196417" cy="955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Google Shape;96;p15">
            <a:extLst>
              <a:ext uri="{FF2B5EF4-FFF2-40B4-BE49-F238E27FC236}">
                <a16:creationId xmlns:a16="http://schemas.microsoft.com/office/drawing/2014/main" id="{8149F791-3C15-A5F4-9BBC-BA3E0ECB0689}"/>
              </a:ext>
            </a:extLst>
          </p:cNvPr>
          <p:cNvSpPr txBox="1"/>
          <p:nvPr/>
        </p:nvSpPr>
        <p:spPr>
          <a:xfrm>
            <a:off x="3058552" y="2258032"/>
            <a:ext cx="1097600" cy="259712"/>
          </a:xfrm>
          <a:prstGeom prst="rect">
            <a:avLst/>
          </a:prstGeom>
          <a:solidFill>
            <a:srgbClr val="4A86E8"/>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Consolas"/>
                <a:ea typeface="Consolas"/>
                <a:cs typeface="Consolas"/>
                <a:sym typeface="Consolas"/>
              </a:rPr>
              <a:t>git.exe</a:t>
            </a:r>
            <a:endParaRPr dirty="0">
              <a:solidFill>
                <a:srgbClr val="FFFFFF"/>
              </a:solidFill>
              <a:latin typeface="Consolas"/>
              <a:ea typeface="Consolas"/>
              <a:cs typeface="Consolas"/>
              <a:sym typeface="Consolas"/>
            </a:endParaRPr>
          </a:p>
        </p:txBody>
      </p:sp>
      <p:cxnSp>
        <p:nvCxnSpPr>
          <p:cNvPr id="126" name="Straight Arrow Connector 125">
            <a:extLst>
              <a:ext uri="{FF2B5EF4-FFF2-40B4-BE49-F238E27FC236}">
                <a16:creationId xmlns:a16="http://schemas.microsoft.com/office/drawing/2014/main" id="{10D3F37B-8EA9-5C45-977F-A01D44CC1084}"/>
              </a:ext>
            </a:extLst>
          </p:cNvPr>
          <p:cNvCxnSpPr>
            <a:cxnSpLocks/>
          </p:cNvCxnSpPr>
          <p:nvPr/>
        </p:nvCxnSpPr>
        <p:spPr>
          <a:xfrm>
            <a:off x="3104044" y="1370347"/>
            <a:ext cx="899349" cy="880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558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102" name="Google Shape;102;p16"/>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3</a:t>
            </a:r>
            <a:endParaRPr/>
          </a:p>
        </p:txBody>
      </p:sp>
      <p:sp>
        <p:nvSpPr>
          <p:cNvPr id="103" name="Google Shape;103;p16"/>
          <p:cNvSpPr txBox="1">
            <a:spLocks noGrp="1"/>
          </p:cNvSpPr>
          <p:nvPr>
            <p:ph type="body" idx="2"/>
          </p:nvPr>
        </p:nvSpPr>
        <p:spPr>
          <a:xfrm>
            <a:off x="315425" y="676575"/>
            <a:ext cx="3706500" cy="4299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Understanding the status of the files in your repository is important! Have you made changes to any files that need to be committed? What has been added, modified, deleted, or staged since your last commit?</a:t>
            </a:r>
            <a:endParaRPr/>
          </a:p>
          <a:p>
            <a:pPr marL="0" lvl="0" indent="0" algn="l" rtl="0">
              <a:spcBef>
                <a:spcPts val="1600"/>
              </a:spcBef>
              <a:spcAft>
                <a:spcPts val="0"/>
              </a:spcAft>
              <a:buNone/>
            </a:pPr>
            <a:r>
              <a:rPr lang="en"/>
              <a:t>Consider the following commands executed in a Git repository on your computer. Together with your team, describe the status of the file at each step.</a:t>
            </a:r>
            <a:endParaRPr/>
          </a:p>
          <a:p>
            <a:pPr marL="457200" lvl="0" indent="-311150" algn="l" rtl="0">
              <a:spcBef>
                <a:spcPts val="1600"/>
              </a:spcBef>
              <a:spcAft>
                <a:spcPts val="0"/>
              </a:spcAft>
              <a:buSzPts val="1300"/>
              <a:buFont typeface="Consolas"/>
              <a:buAutoNum type="arabicPeriod"/>
            </a:pPr>
            <a:r>
              <a:rPr lang="en">
                <a:latin typeface="Consolas"/>
                <a:ea typeface="Consolas"/>
                <a:cs typeface="Consolas"/>
                <a:sym typeface="Consolas"/>
              </a:rPr>
              <a:t>notepad new_file.txt</a:t>
            </a:r>
            <a:endParaRPr>
              <a:latin typeface="Consolas"/>
              <a:ea typeface="Consolas"/>
              <a:cs typeface="Consolas"/>
              <a:sym typeface="Consolas"/>
            </a:endParaRPr>
          </a:p>
          <a:p>
            <a:pPr marL="457200" lvl="0" indent="-311150" algn="l" rtl="0">
              <a:spcBef>
                <a:spcPts val="1000"/>
              </a:spcBef>
              <a:spcAft>
                <a:spcPts val="0"/>
              </a:spcAft>
              <a:buSzPts val="1300"/>
              <a:buFont typeface="Consolas"/>
              <a:buAutoNum type="arabicPeriod"/>
            </a:pPr>
            <a:r>
              <a:rPr lang="en">
                <a:latin typeface="Consolas"/>
                <a:ea typeface="Consolas"/>
                <a:cs typeface="Consolas"/>
                <a:sym typeface="Consolas"/>
              </a:rPr>
              <a:t>git add new_file.txt</a:t>
            </a:r>
            <a:endParaRPr>
              <a:latin typeface="Consolas"/>
              <a:ea typeface="Consolas"/>
              <a:cs typeface="Consolas"/>
              <a:sym typeface="Consolas"/>
            </a:endParaRPr>
          </a:p>
          <a:p>
            <a:pPr marL="457200" lvl="0" indent="-311150" algn="l" rtl="0">
              <a:spcBef>
                <a:spcPts val="1000"/>
              </a:spcBef>
              <a:spcAft>
                <a:spcPts val="0"/>
              </a:spcAft>
              <a:buSzPts val="1300"/>
              <a:buFont typeface="Consolas"/>
              <a:buAutoNum type="arabicPeriod"/>
            </a:pPr>
            <a:r>
              <a:rPr lang="en">
                <a:latin typeface="Consolas"/>
                <a:ea typeface="Consolas"/>
                <a:cs typeface="Consolas"/>
                <a:sym typeface="Consolas"/>
              </a:rPr>
              <a:t>git commit -m "adding a new file"</a:t>
            </a:r>
            <a:endParaRPr>
              <a:latin typeface="Consolas"/>
              <a:ea typeface="Consolas"/>
              <a:cs typeface="Consolas"/>
              <a:sym typeface="Consolas"/>
            </a:endParaRPr>
          </a:p>
          <a:p>
            <a:pPr marL="457200" lvl="0" indent="-311150" algn="l" rtl="0">
              <a:spcBef>
                <a:spcPts val="1000"/>
              </a:spcBef>
              <a:spcAft>
                <a:spcPts val="0"/>
              </a:spcAft>
              <a:buSzPts val="1300"/>
              <a:buFont typeface="Consolas"/>
              <a:buAutoNum type="arabicPeriod"/>
            </a:pPr>
            <a:r>
              <a:rPr lang="en">
                <a:latin typeface="Consolas"/>
                <a:ea typeface="Consolas"/>
                <a:cs typeface="Consolas"/>
                <a:sym typeface="Consolas"/>
              </a:rPr>
              <a:t>git push</a:t>
            </a:r>
            <a:endParaRPr>
              <a:latin typeface="Consolas"/>
              <a:ea typeface="Consolas"/>
              <a:cs typeface="Consolas"/>
              <a:sym typeface="Consolas"/>
            </a:endParaRPr>
          </a:p>
          <a:p>
            <a:pPr marL="457200" lvl="0" indent="-311150" algn="l" rtl="0">
              <a:spcBef>
                <a:spcPts val="1000"/>
              </a:spcBef>
              <a:spcAft>
                <a:spcPts val="1000"/>
              </a:spcAft>
              <a:buSzPts val="1300"/>
              <a:buFont typeface="Consolas"/>
              <a:buAutoNum type="arabicPeriod"/>
            </a:pPr>
            <a:r>
              <a:rPr lang="en">
                <a:latin typeface="Consolas"/>
                <a:ea typeface="Consolas"/>
                <a:cs typeface="Consolas"/>
                <a:sym typeface="Consolas"/>
              </a:rPr>
              <a:t>notepad new_file.txt (add text)</a:t>
            </a:r>
            <a:endParaRPr>
              <a:latin typeface="Consolas"/>
              <a:ea typeface="Consolas"/>
              <a:cs typeface="Consolas"/>
              <a:sym typeface="Consolas"/>
            </a:endParaRPr>
          </a:p>
        </p:txBody>
      </p:sp>
      <p:graphicFrame>
        <p:nvGraphicFramePr>
          <p:cNvPr id="104" name="Google Shape;104;p16"/>
          <p:cNvGraphicFramePr/>
          <p:nvPr>
            <p:extLst>
              <p:ext uri="{D42A27DB-BD31-4B8C-83A1-F6EECF244321}">
                <p14:modId xmlns:p14="http://schemas.microsoft.com/office/powerpoint/2010/main" val="1843319360"/>
              </p:ext>
            </p:extLst>
          </p:nvPr>
        </p:nvGraphicFramePr>
        <p:xfrm>
          <a:off x="4480250" y="284275"/>
          <a:ext cx="4482975" cy="4329875"/>
        </p:xfrm>
        <a:graphic>
          <a:graphicData uri="http://schemas.openxmlformats.org/drawingml/2006/table">
            <a:tbl>
              <a:tblPr>
                <a:noFill/>
                <a:tableStyleId>{BE443BAE-6E5C-4F2B-8E36-E3E00C354881}</a:tableStyleId>
              </a:tblPr>
              <a:tblGrid>
                <a:gridCol w="4482975">
                  <a:extLst>
                    <a:ext uri="{9D8B030D-6E8A-4147-A177-3AD203B41FA5}">
                      <a16:colId xmlns:a16="http://schemas.microsoft.com/office/drawing/2014/main" val="20000"/>
                    </a:ext>
                  </a:extLst>
                </a:gridCol>
              </a:tblGrid>
              <a:tr h="865975">
                <a:tc>
                  <a:txBody>
                    <a:bodyPr/>
                    <a:lstStyle/>
                    <a:p>
                      <a:pPr marL="0" lvl="0" indent="0" algn="l" rtl="0">
                        <a:spcBef>
                          <a:spcPts val="0"/>
                        </a:spcBef>
                        <a:spcAft>
                          <a:spcPts val="0"/>
                        </a:spcAft>
                        <a:buNone/>
                      </a:pPr>
                      <a:r>
                        <a:rPr lang="en" dirty="0"/>
                        <a:t>1. opens notepad and creates an empty file named new_file.txt</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65975">
                <a:tc>
                  <a:txBody>
                    <a:bodyPr/>
                    <a:lstStyle/>
                    <a:p>
                      <a:pPr marL="0" lvl="0" indent="0" algn="l" rtl="0">
                        <a:spcBef>
                          <a:spcPts val="0"/>
                        </a:spcBef>
                        <a:spcAft>
                          <a:spcPts val="0"/>
                        </a:spcAft>
                        <a:buNone/>
                      </a:pPr>
                      <a:r>
                        <a:rPr lang="en" dirty="0"/>
                        <a:t>2. </a:t>
                      </a:r>
                      <a:r>
                        <a:rPr lang="en-US" dirty="0"/>
                        <a:t>T</a:t>
                      </a:r>
                      <a:r>
                        <a:rPr lang="en" dirty="0"/>
                        <a:t>emporarily caches files</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65975">
                <a:tc>
                  <a:txBody>
                    <a:bodyPr/>
                    <a:lstStyle/>
                    <a:p>
                      <a:pPr marL="0" lvl="0" indent="0" algn="l" rtl="0">
                        <a:spcBef>
                          <a:spcPts val="0"/>
                        </a:spcBef>
                        <a:spcAft>
                          <a:spcPts val="0"/>
                        </a:spcAft>
                        <a:buNone/>
                      </a:pPr>
                      <a:r>
                        <a:rPr lang="en" dirty="0"/>
                        <a:t>3. </a:t>
                      </a:r>
                      <a:r>
                        <a:rPr lang="en-US" dirty="0"/>
                        <a:t>C</a:t>
                      </a:r>
                      <a:r>
                        <a:rPr lang="en" dirty="0"/>
                        <a:t>reates a copy of files to repo with commit comment</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5975">
                <a:tc>
                  <a:txBody>
                    <a:bodyPr/>
                    <a:lstStyle/>
                    <a:p>
                      <a:pPr marL="0" lvl="0" indent="0" algn="l" rtl="0">
                        <a:spcBef>
                          <a:spcPts val="0"/>
                        </a:spcBef>
                        <a:spcAft>
                          <a:spcPts val="0"/>
                        </a:spcAft>
                        <a:buNone/>
                      </a:pPr>
                      <a:r>
                        <a:rPr lang="en" dirty="0"/>
                        <a:t>4. </a:t>
                      </a:r>
                      <a:r>
                        <a:rPr lang="en-US" dirty="0"/>
                        <a:t>U</a:t>
                      </a:r>
                      <a:r>
                        <a:rPr lang="en" dirty="0"/>
                        <a:t>pload the changed files to the remote repo</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865975">
                <a:tc>
                  <a:txBody>
                    <a:bodyPr/>
                    <a:lstStyle/>
                    <a:p>
                      <a:pPr marL="0" lvl="0" indent="0" algn="l" rtl="0">
                        <a:spcBef>
                          <a:spcPts val="0"/>
                        </a:spcBef>
                        <a:spcAft>
                          <a:spcPts val="0"/>
                        </a:spcAft>
                        <a:buNone/>
                      </a:pPr>
                      <a:r>
                        <a:rPr lang="en" dirty="0"/>
                        <a:t>5. </a:t>
                      </a:r>
                      <a:r>
                        <a:rPr lang="en-US" dirty="0"/>
                        <a:t>O</a:t>
                      </a:r>
                      <a:r>
                        <a:rPr lang="en" dirty="0"/>
                        <a:t>pens created file to get option to add text</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5188525"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4</a:t>
            </a:r>
            <a:endParaRPr/>
          </a:p>
        </p:txBody>
      </p:sp>
      <p:sp>
        <p:nvSpPr>
          <p:cNvPr id="110" name="Google Shape;110;p1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111" name="Google Shape;111;p17"/>
          <p:cNvSpPr txBox="1">
            <a:spLocks noGrp="1"/>
          </p:cNvSpPr>
          <p:nvPr>
            <p:ph type="body" idx="2"/>
          </p:nvPr>
        </p:nvSpPr>
        <p:spPr>
          <a:xfrm>
            <a:off x="5192225" y="905175"/>
            <a:ext cx="3706500" cy="3713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200"/>
              <a:t>Proper use of version control means understanding </a:t>
            </a:r>
            <a:r>
              <a:rPr lang="en" sz="1200" b="1" i="1"/>
              <a:t>why</a:t>
            </a:r>
            <a:r>
              <a:rPr lang="en" sz="1200"/>
              <a:t> we use it and not just memorizing </a:t>
            </a:r>
            <a:r>
              <a:rPr lang="en" sz="1200" b="1" i="1"/>
              <a:t>how</a:t>
            </a:r>
            <a:r>
              <a:rPr lang="en" sz="1200" b="1"/>
              <a:t> </a:t>
            </a:r>
            <a:r>
              <a:rPr lang="en" sz="1200"/>
              <a:t>to use it.</a:t>
            </a:r>
            <a:endParaRPr sz="1200"/>
          </a:p>
          <a:p>
            <a:pPr marL="0" lvl="0" indent="0" algn="l" rtl="0">
              <a:spcBef>
                <a:spcPts val="1600"/>
              </a:spcBef>
              <a:spcAft>
                <a:spcPts val="0"/>
              </a:spcAft>
              <a:buNone/>
            </a:pPr>
            <a:r>
              <a:rPr lang="en" sz="1200"/>
              <a:t>Discuss the following questions with your team, and type or write your answers in the space on the right.</a:t>
            </a:r>
            <a:endParaRPr sz="1200"/>
          </a:p>
          <a:p>
            <a:pPr marL="457200" lvl="0" indent="-304800" algn="l" rtl="0">
              <a:spcBef>
                <a:spcPts val="1600"/>
              </a:spcBef>
              <a:spcAft>
                <a:spcPts val="0"/>
              </a:spcAft>
              <a:buSzPts val="1200"/>
              <a:buAutoNum type="arabicPeriod"/>
            </a:pPr>
            <a:r>
              <a:rPr lang="en" sz="1200"/>
              <a:t>Why do you think that it is a good idea to check the status before staging files?</a:t>
            </a:r>
            <a:endParaRPr sz="1200"/>
          </a:p>
          <a:p>
            <a:pPr marL="457200" lvl="0" indent="-304800" algn="l" rtl="0">
              <a:spcBef>
                <a:spcPts val="1000"/>
              </a:spcBef>
              <a:spcAft>
                <a:spcPts val="0"/>
              </a:spcAft>
              <a:buSzPts val="1200"/>
              <a:buAutoNum type="arabicPeriod"/>
            </a:pPr>
            <a:r>
              <a:rPr lang="en" sz="1200"/>
              <a:t>When starting a brand new assignment, what is the first thing you should do, and why?</a:t>
            </a:r>
            <a:endParaRPr sz="1200"/>
          </a:p>
          <a:p>
            <a:pPr marL="457200" lvl="0" indent="-304800" algn="l" rtl="0">
              <a:spcBef>
                <a:spcPts val="1000"/>
              </a:spcBef>
              <a:spcAft>
                <a:spcPts val="0"/>
              </a:spcAft>
              <a:buSzPts val="1200"/>
              <a:buAutoNum type="arabicPeriod"/>
            </a:pPr>
            <a:r>
              <a:rPr lang="en" sz="1200">
                <a:solidFill>
                  <a:schemeClr val="lt1"/>
                </a:solidFill>
              </a:rPr>
              <a:t>What is the last thing that you should do before taking a break from working?</a:t>
            </a:r>
            <a:endParaRPr sz="1200"/>
          </a:p>
          <a:p>
            <a:pPr marL="457200" lvl="0" indent="-304800" algn="l" rtl="0">
              <a:spcBef>
                <a:spcPts val="1000"/>
              </a:spcBef>
              <a:spcAft>
                <a:spcPts val="1000"/>
              </a:spcAft>
              <a:buSzPts val="1200"/>
              <a:buAutoNum type="arabicPeriod"/>
            </a:pPr>
            <a:r>
              <a:rPr lang="en" sz="1200"/>
              <a:t>Assume that you are getting back to work on a different computer. What is the first thing you should do?</a:t>
            </a:r>
            <a:endParaRPr sz="1200"/>
          </a:p>
        </p:txBody>
      </p:sp>
      <p:graphicFrame>
        <p:nvGraphicFramePr>
          <p:cNvPr id="112" name="Google Shape;112;p17"/>
          <p:cNvGraphicFramePr/>
          <p:nvPr>
            <p:extLst>
              <p:ext uri="{D42A27DB-BD31-4B8C-83A1-F6EECF244321}">
                <p14:modId xmlns:p14="http://schemas.microsoft.com/office/powerpoint/2010/main" val="2414586835"/>
              </p:ext>
            </p:extLst>
          </p:nvPr>
        </p:nvGraphicFramePr>
        <p:xfrm>
          <a:off x="213050" y="360475"/>
          <a:ext cx="4482975" cy="4339800"/>
        </p:xfrm>
        <a:graphic>
          <a:graphicData uri="http://schemas.openxmlformats.org/drawingml/2006/table">
            <a:tbl>
              <a:tblPr>
                <a:noFill/>
                <a:tableStyleId>{BE443BAE-6E5C-4F2B-8E36-E3E00C354881}</a:tableStyleId>
              </a:tblPr>
              <a:tblGrid>
                <a:gridCol w="4482975">
                  <a:extLst>
                    <a:ext uri="{9D8B030D-6E8A-4147-A177-3AD203B41FA5}">
                      <a16:colId xmlns:a16="http://schemas.microsoft.com/office/drawing/2014/main" val="20000"/>
                    </a:ext>
                  </a:extLst>
                </a:gridCol>
              </a:tblGrid>
              <a:tr h="1084950">
                <a:tc>
                  <a:txBody>
                    <a:bodyPr/>
                    <a:lstStyle/>
                    <a:p>
                      <a:pPr marL="0" lvl="0" indent="0" algn="l" rtl="0">
                        <a:spcBef>
                          <a:spcPts val="0"/>
                        </a:spcBef>
                        <a:spcAft>
                          <a:spcPts val="0"/>
                        </a:spcAft>
                        <a:buNone/>
                      </a:pPr>
                      <a:r>
                        <a:rPr lang="en" dirty="0"/>
                        <a:t>1. </a:t>
                      </a:r>
                      <a:r>
                        <a:rPr lang="en-US" dirty="0"/>
                        <a:t>I</a:t>
                      </a:r>
                      <a:r>
                        <a:rPr lang="en" dirty="0"/>
                        <a:t>t is a good idea to check the status before staging files to understand its changes</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84950">
                <a:tc>
                  <a:txBody>
                    <a:bodyPr/>
                    <a:lstStyle/>
                    <a:p>
                      <a:pPr marL="0" lvl="0" indent="0" algn="l" rtl="0">
                        <a:spcBef>
                          <a:spcPts val="0"/>
                        </a:spcBef>
                        <a:spcAft>
                          <a:spcPts val="0"/>
                        </a:spcAft>
                        <a:buNone/>
                      </a:pPr>
                      <a:r>
                        <a:rPr lang="en" dirty="0"/>
                        <a:t>2. </a:t>
                      </a:r>
                      <a:r>
                        <a:rPr lang="en-US" dirty="0"/>
                        <a:t>R</a:t>
                      </a:r>
                      <a:r>
                        <a:rPr lang="en" dirty="0"/>
                        <a:t>ead the instructions to understand what the assignment is and start brainstorming how to solve it</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84950">
                <a:tc>
                  <a:txBody>
                    <a:bodyPr/>
                    <a:lstStyle/>
                    <a:p>
                      <a:pPr marL="0" lvl="0" indent="0" algn="l" rtl="0">
                        <a:spcBef>
                          <a:spcPts val="0"/>
                        </a:spcBef>
                        <a:spcAft>
                          <a:spcPts val="0"/>
                        </a:spcAft>
                        <a:buNone/>
                      </a:pPr>
                      <a:r>
                        <a:rPr lang="en" dirty="0"/>
                        <a:t>3. </a:t>
                      </a:r>
                      <a:r>
                        <a:rPr lang="en-US" dirty="0"/>
                        <a:t>P</a:t>
                      </a:r>
                      <a:r>
                        <a:rPr lang="en" dirty="0"/>
                        <a:t>ush your code</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84950">
                <a:tc>
                  <a:txBody>
                    <a:bodyPr/>
                    <a:lstStyle/>
                    <a:p>
                      <a:pPr marL="0" lvl="0" indent="0" algn="l" rtl="0">
                        <a:spcBef>
                          <a:spcPts val="0"/>
                        </a:spcBef>
                        <a:spcAft>
                          <a:spcPts val="0"/>
                        </a:spcAft>
                        <a:buNone/>
                      </a:pPr>
                      <a:r>
                        <a:rPr lang="en" dirty="0"/>
                        <a:t>4. </a:t>
                      </a:r>
                      <a:r>
                        <a:rPr lang="en-US" dirty="0"/>
                        <a:t>C</a:t>
                      </a:r>
                      <a:r>
                        <a:rPr lang="en" dirty="0"/>
                        <a:t>lone your repo</a:t>
                      </a:r>
                      <a:endParaRPr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1011</Words>
  <Application>Microsoft Office PowerPoint</Application>
  <PresentationFormat>On-screen Show (16:9)</PresentationFormat>
  <Paragraphs>122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Merriweather</vt:lpstr>
      <vt:lpstr>Roboto</vt:lpstr>
      <vt:lpstr>Consolas</vt:lpstr>
      <vt:lpstr>Arial</vt:lpstr>
      <vt:lpstr>Paradigm</vt:lpstr>
      <vt:lpstr>Problem Solving Session</vt:lpstr>
      <vt:lpstr>Problem 1</vt:lpstr>
      <vt:lpstr>Problem 2</vt:lpstr>
      <vt:lpstr>Problem 2</vt:lpstr>
      <vt:lpstr>Problem 3</vt:lpstr>
      <vt:lpstr>Problem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c:creator>
  <cp:lastModifiedBy>Alexandra N. Lalama (RIT Student)</cp:lastModifiedBy>
  <cp:revision>2</cp:revision>
  <dcterms:modified xsi:type="dcterms:W3CDTF">2024-12-18T01:57:29Z</dcterms:modified>
</cp:coreProperties>
</file>